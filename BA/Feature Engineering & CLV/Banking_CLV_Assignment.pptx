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60" r:id="rId4"/>
    <p:sldId id="261" r:id="rId5"/>
    <p:sldId id="262" r:id="rId6"/>
    <p:sldId id="263" r:id="rId7"/>
    <p:sldId id="264"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32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assignment uses the conventional abbreviation CLV for customer lifetime value. All customer data and business parameters are synthetic teaching assumptions. The sequence and grading weights adapt the supplied Banking_RFM_Assignment.pptx.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data and scenario parameters in this assignment are synthetic classroom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10% discount rate and constant contribution/retention assumptions are hypothetical classroom inputs. They are not estimates of a bank's actual cost of capital or customer behavior. The three-year horizon is a truncated expected future contribution measure, not the full remaining lifetime.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data and scenario parameters in this assignment are synthetic classroom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Method background: Fader, P. S. and Hardie, B. G. S. (2014), What's Wrong With This CLV Formula?, https://www.brucehardie.com/notes/033/what_is_wrong_with_this_CLV_formula.pdf. This exercise explicitly chooses a three-year horizon and end-of-year contributions conditional on survival, and excludes a t=0 contribution and terminal value. CLV₃ here means expected discounted contribution over three years. Net interest income already excludes funding costs. Financial contribution is a simplified proxy for cash 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data and scenario parameters in this assignment are synthetic classroom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+3 percentage point uplift is a synthetic assumption, not a measured causal effect. It changes the per-year conditional retention rate in all three forecast years. Campaign cost occurs once at t=0 for every targeted customer, whether or not that customer later remains active. Selection is optimal under equal costs, additive values, no interaction effects and a budget of at most 100 offers. A negative annual contribution can make retention reduce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numerical data and scenario parameters in this assignment are synthetic classroom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clv_rank is the base-case rank from highest CLV to lowest. annual_retention_rate is the cleaned base-case conditional retention input. campaign_delta_vnd is base-case incremental CLV after the upfront offer cost. selected indicates membership of the base-case campaign selection. Unavailable numeric results must remain missing and carry an explanatory quality_status.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BE6D174-8CEE-483A-A446-9C25DB35807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54BE12A-5565-45EC-85DE-C04252F180E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2890A83-6A9C-407C-A798-D00FF2B43B9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97B1FE2-D2AF-415E-876A-D7D30778F04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04DE27C-AF7F-4664-B235-1161F2B077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942590D-05DA-413F-B032-811C9F08EED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D965CB5-7EF8-4325-8627-DA50B758E96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F80C451B-3548-456D-BBA0-A2472EE93B0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5F8F479-A317-4267-9DDA-BFA82F2B98E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9F8A052-A1F9-4A2A-A8D9-338FC28EFC4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3F4486B-9705-4991-8BA3-E6E97C177141}"/>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a:pPr>
              <a:lnSpc>
                <a:spcPct val="112000"/>
              </a:lnSpc>
              <a:buNone/>
              <a:defRPr sz="3000" b="1">
                <a:solidFill>
                  <a:srgbClr val="132D46"/>
                </a:solidFill>
                <a:latin typeface="Arial"/>
                <a:ea typeface="Arial"/>
                <a:cs typeface="Arial"/>
              </a:defRPr>
            </a:pPr>
            <a:r>
              <a:rPr sz="3000" b="1">
                <a:solidFill>
                  <a:srgbClr val="132D46"/>
                </a:solidFill>
                <a:latin typeface="Arial"/>
                <a:ea typeface="Arial"/>
                <a:cs typeface="Arial"/>
              </a:rPr>
              <a:t>BANKING CUSTOMER LIFETIME VALUE</a:t>
            </a:r>
          </a:p>
        </p:txBody>
      </p:sp>
      <p:sp>
        <p:nvSpPr>
          <p:cNvPr id="3" name="body-1">
            <a:extLst>
              <a:ext uri="{FF2B5EF4-FFF2-40B4-BE49-F238E27FC236}">
                <a16:creationId xmlns:a16="http://schemas.microsoft.com/office/drawing/2014/main" id="{0CCA1B65-0ECD-4639-A081-90F9F6C54349}"/>
              </a:ext>
            </a:extLst>
          </p:cNvPr>
          <p:cNvSpPr>
            <a:spLocks noGrp="1"/>
          </p:cNvSpPr>
          <p:nvPr/>
        </p:nvSpPr>
        <p:spPr>
          <a:xfrm>
            <a:off x="742950" y="1809750"/>
            <a:ext cx="10668000" cy="409956"/>
          </a:xfrm>
          <a:prstGeom prst="rect">
            <a:avLst/>
          </a:prstGeom>
          <a:noFill/>
          <a:ln w="0">
            <a:noFill/>
          </a:ln>
        </p:spPr>
        <p:txBody>
          <a:bodyPr wrap="square" lIns="0" tIns="0" rIns="0" bIns="0" anchor="t">
            <a:noAutofit/>
          </a:bodyPr>
          <a:lstStyle>
            <a:defPPr>
              <a:defRPr sz="2100" b="0">
                <a:solidFill>
                  <a:srgbClr val="222222"/>
                </a:solidFill>
                <a:latin typeface="Arial"/>
                <a:ea typeface="Arial"/>
                <a:cs typeface="Arial"/>
              </a:defRPr>
            </a:defPPr>
            <a:lvl1pPr>
              <a:defRPr sz="2100" b="0">
                <a:solidFill>
                  <a:srgbClr val="222222"/>
                </a:solidFill>
                <a:latin typeface="Arial"/>
                <a:ea typeface="Arial"/>
                <a:cs typeface="Arial"/>
              </a:defRPr>
            </a:lvl1pPr>
            <a:lvl2pPr>
              <a:defRPr sz="2100" b="0">
                <a:solidFill>
                  <a:srgbClr val="222222"/>
                </a:solidFill>
                <a:latin typeface="Arial"/>
                <a:ea typeface="Arial"/>
                <a:cs typeface="Arial"/>
              </a:defRPr>
            </a:lvl2pPr>
            <a:lvl3pPr>
              <a:defRPr sz="2100" b="0">
                <a:solidFill>
                  <a:srgbClr val="222222"/>
                </a:solidFill>
                <a:latin typeface="Arial"/>
                <a:ea typeface="Arial"/>
                <a:cs typeface="Arial"/>
              </a:defRPr>
            </a:lvl3pPr>
            <a:lvl4pPr>
              <a:defRPr sz="2100" b="0">
                <a:solidFill>
                  <a:srgbClr val="222222"/>
                </a:solidFill>
                <a:latin typeface="Arial"/>
                <a:ea typeface="Arial"/>
                <a:cs typeface="Arial"/>
              </a:defRPr>
            </a:lvl4pPr>
            <a:lvl5pPr>
              <a:defRPr sz="2100" b="0">
                <a:solidFill>
                  <a:srgbClr val="222222"/>
                </a:solidFill>
                <a:latin typeface="Arial"/>
                <a:ea typeface="Arial"/>
                <a:cs typeface="Arial"/>
              </a:defRPr>
            </a:lvl5pPr>
            <a:lvl6pPr>
              <a:defRPr sz="2100" b="0">
                <a:solidFill>
                  <a:srgbClr val="222222"/>
                </a:solidFill>
                <a:latin typeface="Arial"/>
                <a:ea typeface="Arial"/>
                <a:cs typeface="Arial"/>
              </a:defRPr>
            </a:lvl6pPr>
            <a:lvl7pPr>
              <a:defRPr sz="2100" b="0">
                <a:solidFill>
                  <a:srgbClr val="222222"/>
                </a:solidFill>
                <a:latin typeface="Arial"/>
                <a:ea typeface="Arial"/>
                <a:cs typeface="Arial"/>
              </a:defRPr>
            </a:lvl7pPr>
            <a:lvl8pPr>
              <a:defRPr sz="2100" b="0">
                <a:solidFill>
                  <a:srgbClr val="222222"/>
                </a:solidFill>
                <a:latin typeface="Arial"/>
                <a:ea typeface="Arial"/>
                <a:cs typeface="Arial"/>
              </a:defRPr>
            </a:lvl8pPr>
            <a:lvl9pPr>
              <a:defRPr sz="2100" b="0">
                <a:solidFill>
                  <a:srgbClr val="222222"/>
                </a:solidFill>
                <a:latin typeface="Arial"/>
                <a:ea typeface="Arial"/>
                <a:cs typeface="Arial"/>
              </a:defRPr>
            </a:lvl9pPr>
          </a:lstStyle>
          <a:p>
            <a:pPr>
              <a:lnSpc>
                <a:spcPct val="112000"/>
              </a:lnSpc>
              <a:buNone/>
              <a:defRPr sz="2100" b="0">
                <a:solidFill>
                  <a:srgbClr val="222222"/>
                </a:solidFill>
                <a:latin typeface="Arial"/>
                <a:ea typeface="Arial"/>
                <a:cs typeface="Arial"/>
              </a:defRPr>
            </a:pPr>
            <a:r>
              <a:rPr sz="2100" b="0">
                <a:solidFill>
                  <a:srgbClr val="222222"/>
                </a:solidFill>
                <a:latin typeface="Arial"/>
                <a:ea typeface="Arial"/>
                <a:cs typeface="Arial"/>
              </a:rPr>
              <a:t>Practical assignment: contribution, retention and customer decisions</a:t>
            </a:r>
          </a:p>
        </p:txBody>
      </p:sp>
      <p:sp>
        <p:nvSpPr>
          <p:cNvPr id="4" name="body-2">
            <a:extLst>
              <a:ext uri="{FF2B5EF4-FFF2-40B4-BE49-F238E27FC236}">
                <a16:creationId xmlns:a16="http://schemas.microsoft.com/office/drawing/2014/main" id="{DEF0DAED-FE79-448B-9EEB-12900BF4028C}"/>
              </a:ext>
            </a:extLst>
          </p:cNvPr>
          <p:cNvSpPr>
            <a:spLocks noGrp="1"/>
          </p:cNvSpPr>
          <p:nvPr/>
        </p:nvSpPr>
        <p:spPr>
          <a:xfrm>
            <a:off x="742950" y="2562606"/>
            <a:ext cx="10668000" cy="342519"/>
          </a:xfrm>
          <a:prstGeom prst="rect">
            <a:avLst/>
          </a:prstGeom>
          <a:noFill/>
          <a:ln w="0">
            <a:noFill/>
          </a:ln>
        </p:spPr>
        <p:txBody>
          <a:bodyPr wrap="square" lIns="0" tIns="0" rIns="0" bIns="0" anchor="t">
            <a:noAutofit/>
          </a:bodyPr>
          <a:lstStyle>
            <a:defPPr>
              <a:defRPr sz="1650" b="0">
                <a:solidFill>
                  <a:srgbClr val="222222"/>
                </a:solidFill>
                <a:latin typeface="Arial"/>
                <a:ea typeface="Arial"/>
                <a:cs typeface="Arial"/>
              </a:defRPr>
            </a:defPPr>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a:lnSpc>
                <a:spcPct val="112000"/>
              </a:lnSpc>
              <a:buNone/>
              <a:defRPr sz="1650" b="0">
                <a:solidFill>
                  <a:srgbClr val="222222"/>
                </a:solidFill>
                <a:latin typeface="Arial"/>
                <a:ea typeface="Arial"/>
                <a:cs typeface="Arial"/>
              </a:defRPr>
            </a:pPr>
            <a:r>
              <a:rPr sz="1650" b="0">
                <a:solidFill>
                  <a:srgbClr val="222222"/>
                </a:solidFill>
                <a:latin typeface="Arial"/>
                <a:ea typeface="Arial"/>
                <a:cs typeface="Arial"/>
              </a:rPr>
              <a:t>Synthetic data / Individual assignment / 100 points</a:t>
            </a:r>
          </a:p>
        </p:txBody>
      </p:sp>
      <p:sp>
        <p:nvSpPr>
          <p:cNvPr id="5" name="body-3">
            <a:extLst>
              <a:ext uri="{FF2B5EF4-FFF2-40B4-BE49-F238E27FC236}">
                <a16:creationId xmlns:a16="http://schemas.microsoft.com/office/drawing/2014/main" id="{D7D78BBC-449A-437B-B43F-FA5308FFF60C}"/>
              </a:ext>
            </a:extLst>
          </p:cNvPr>
          <p:cNvSpPr>
            <a:spLocks noGrp="1"/>
          </p:cNvSpPr>
          <p:nvPr/>
        </p:nvSpPr>
        <p:spPr>
          <a:xfrm>
            <a:off x="742950" y="3248025"/>
            <a:ext cx="10668000" cy="634746"/>
          </a:xfrm>
          <a:prstGeom prst="rect">
            <a:avLst/>
          </a:prstGeom>
          <a:noFill/>
          <a:ln w="0">
            <a:noFill/>
          </a:ln>
        </p:spPr>
        <p:txBody>
          <a:bodyPr wrap="square" lIns="0" tIns="0" rIns="0" bIns="0" anchor="t">
            <a:noAutofit/>
          </a:bodyPr>
          <a:lstStyle>
            <a:defPPr>
              <a:defRPr sz="1800" b="0">
                <a:solidFill>
                  <a:srgbClr val="222222"/>
                </a:solidFill>
                <a:latin typeface="Arial"/>
                <a:ea typeface="Arial"/>
                <a:cs typeface="Arial"/>
              </a:defRPr>
            </a:defPPr>
            <a:lvl1pPr>
              <a:defRPr sz="1800" b="0">
                <a:solidFill>
                  <a:srgbClr val="222222"/>
                </a:solidFill>
                <a:latin typeface="Arial"/>
                <a:ea typeface="Arial"/>
                <a:cs typeface="Arial"/>
              </a:defRPr>
            </a:lvl1pPr>
            <a:lvl2pPr>
              <a:defRPr sz="1800" b="0">
                <a:solidFill>
                  <a:srgbClr val="222222"/>
                </a:solidFill>
                <a:latin typeface="Arial"/>
                <a:ea typeface="Arial"/>
                <a:cs typeface="Arial"/>
              </a:defRPr>
            </a:lvl2pPr>
            <a:lvl3pPr>
              <a:defRPr sz="1800" b="0">
                <a:solidFill>
                  <a:srgbClr val="222222"/>
                </a:solidFill>
                <a:latin typeface="Arial"/>
                <a:ea typeface="Arial"/>
                <a:cs typeface="Arial"/>
              </a:defRPr>
            </a:lvl3pPr>
            <a:lvl4pPr>
              <a:defRPr sz="1800" b="0">
                <a:solidFill>
                  <a:srgbClr val="222222"/>
                </a:solidFill>
                <a:latin typeface="Arial"/>
                <a:ea typeface="Arial"/>
                <a:cs typeface="Arial"/>
              </a:defRPr>
            </a:lvl4pPr>
            <a:lvl5pPr>
              <a:defRPr sz="1800" b="0">
                <a:solidFill>
                  <a:srgbClr val="222222"/>
                </a:solidFill>
                <a:latin typeface="Arial"/>
                <a:ea typeface="Arial"/>
                <a:cs typeface="Arial"/>
              </a:defRPr>
            </a:lvl5pPr>
            <a:lvl6pPr>
              <a:defRPr sz="1800" b="0">
                <a:solidFill>
                  <a:srgbClr val="222222"/>
                </a:solidFill>
                <a:latin typeface="Arial"/>
                <a:ea typeface="Arial"/>
                <a:cs typeface="Arial"/>
              </a:defRPr>
            </a:lvl6pPr>
            <a:lvl7pPr>
              <a:defRPr sz="1800" b="0">
                <a:solidFill>
                  <a:srgbClr val="222222"/>
                </a:solidFill>
                <a:latin typeface="Arial"/>
                <a:ea typeface="Arial"/>
                <a:cs typeface="Arial"/>
              </a:defRPr>
            </a:lvl7pPr>
            <a:lvl8pPr>
              <a:defRPr sz="1800" b="0">
                <a:solidFill>
                  <a:srgbClr val="222222"/>
                </a:solidFill>
                <a:latin typeface="Arial"/>
                <a:ea typeface="Arial"/>
                <a:cs typeface="Arial"/>
              </a:defRPr>
            </a:lvl8pPr>
            <a:lvl9pPr>
              <a:defRPr sz="1800" b="0">
                <a:solidFill>
                  <a:srgbClr val="222222"/>
                </a:solidFill>
                <a:latin typeface="Arial"/>
                <a:ea typeface="Arial"/>
                <a:cs typeface="Arial"/>
              </a:defRPr>
            </a:lvl9pPr>
          </a:lstStyle>
          <a:p>
            <a:pPr>
              <a:lnSpc>
                <a:spcPct val="112000"/>
              </a:lnSpc>
              <a:buNone/>
              <a:defRPr sz="1800" b="0">
                <a:solidFill>
                  <a:srgbClr val="222222"/>
                </a:solidFill>
                <a:latin typeface="Arial"/>
                <a:ea typeface="Arial"/>
                <a:cs typeface="Arial"/>
              </a:defRPr>
            </a:pPr>
            <a:r>
              <a:rPr sz="1800" b="0">
                <a:solidFill>
                  <a:srgbClr val="222222"/>
                </a:solidFill>
                <a:latin typeface="Arial"/>
                <a:ea typeface="Arial"/>
                <a:cs typeface="Arial"/>
              </a:rPr>
              <a:t>Introduction to Business Analytics</a:t>
            </a:r>
          </a:p>
          <a:p>
            <a:pPr>
              <a:lnSpc>
                <a:spcPct val="112000"/>
              </a:lnSpc>
              <a:buNone/>
              <a:defRPr sz="1800" b="0">
                <a:solidFill>
                  <a:srgbClr val="222222"/>
                </a:solidFill>
                <a:latin typeface="Arial"/>
                <a:ea typeface="Arial"/>
                <a:cs typeface="Arial"/>
              </a:defRPr>
            </a:pPr>
            <a:r>
              <a:rPr sz="1800" b="0">
                <a:solidFill>
                  <a:srgbClr val="222222"/>
                </a:solidFill>
                <a:latin typeface="Arial"/>
                <a:ea typeface="Arial"/>
                <a:cs typeface="Arial"/>
              </a:rPr>
              <a:t>Chapter 5</a:t>
            </a:r>
          </a:p>
        </p:txBody>
      </p:sp>
      <p:sp>
        <p:nvSpPr>
          <p:cNvPr id="6" name="footer">
            <a:extLst>
              <a:ext uri="{FF2B5EF4-FFF2-40B4-BE49-F238E27FC236}">
                <a16:creationId xmlns:a16="http://schemas.microsoft.com/office/drawing/2014/main" id="{E371EC98-487C-47C7-A0F9-111F36B1B39E}"/>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7" name="slide-number">
            <a:extLst>
              <a:ext uri="{FF2B5EF4-FFF2-40B4-BE49-F238E27FC236}">
                <a16:creationId xmlns:a16="http://schemas.microsoft.com/office/drawing/2014/main" id="{24B05575-1999-4928-B0E3-F91525DFDB57}"/>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01 / 13</a:t>
            </a:r>
          </a:p>
        </p:txBody>
      </p:sp>
    </p:spTree>
    <p:extLst>
      <p:ext uri="{BB962C8B-B14F-4D97-AF65-F5344CB8AC3E}">
        <p14:creationId xmlns:p14="http://schemas.microsoft.com/office/powerpoint/2010/main" val="96054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EAAF9FA-5165-4652-BC88-2C246B9A3973}"/>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Business Context</a:t>
            </a:r>
          </a:p>
        </p:txBody>
      </p:sp>
      <p:sp>
        <p:nvSpPr>
          <p:cNvPr id="3" name="body-1">
            <a:extLst>
              <a:ext uri="{FF2B5EF4-FFF2-40B4-BE49-F238E27FC236}">
                <a16:creationId xmlns:a16="http://schemas.microsoft.com/office/drawing/2014/main" id="{E9575DA6-250E-4192-83DA-EEBFBC6E2ACA}"/>
              </a:ext>
            </a:extLst>
          </p:cNvPr>
          <p:cNvSpPr>
            <a:spLocks noGrp="1"/>
          </p:cNvSpPr>
          <p:nvPr/>
        </p:nvSpPr>
        <p:spPr>
          <a:xfrm>
            <a:off x="742950" y="1466850"/>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A retail bank wants to estimate the future contribution of its existing customers and allocate a limited retention budget.</a:t>
            </a:r>
          </a:p>
        </p:txBody>
      </p:sp>
      <p:sp>
        <p:nvSpPr>
          <p:cNvPr id="4" name="body-2">
            <a:extLst>
              <a:ext uri="{FF2B5EF4-FFF2-40B4-BE49-F238E27FC236}">
                <a16:creationId xmlns:a16="http://schemas.microsoft.com/office/drawing/2014/main" id="{2D26B546-535A-483F-95CB-41419F0C501D}"/>
              </a:ext>
            </a:extLst>
          </p:cNvPr>
          <p:cNvSpPr>
            <a:spLocks noGrp="1"/>
          </p:cNvSpPr>
          <p:nvPr/>
        </p:nvSpPr>
        <p:spPr>
          <a:xfrm>
            <a:off x="742950" y="2298954"/>
            <a:ext cx="10668000" cy="387477"/>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Your role: Data Analyst presenting recommendations to the CRM Manager.</a:t>
            </a:r>
          </a:p>
        </p:txBody>
      </p:sp>
      <p:sp>
        <p:nvSpPr>
          <p:cNvPr id="5" name="body-3">
            <a:extLst>
              <a:ext uri="{FF2B5EF4-FFF2-40B4-BE49-F238E27FC236}">
                <a16:creationId xmlns:a16="http://schemas.microsoft.com/office/drawing/2014/main" id="{EE677630-1304-4E51-8D99-98EF88DF0527}"/>
              </a:ext>
            </a:extLst>
          </p:cNvPr>
          <p:cNvSpPr>
            <a:spLocks noGrp="1"/>
          </p:cNvSpPr>
          <p:nvPr/>
        </p:nvSpPr>
        <p:spPr>
          <a:xfrm>
            <a:off x="742950" y="2838831"/>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Your decision: which customers should receive a retention offer, and how much additional value could the campaign create?</a:t>
            </a:r>
          </a:p>
        </p:txBody>
      </p:sp>
      <p:sp>
        <p:nvSpPr>
          <p:cNvPr id="6" name="body-4">
            <a:extLst>
              <a:ext uri="{FF2B5EF4-FFF2-40B4-BE49-F238E27FC236}">
                <a16:creationId xmlns:a16="http://schemas.microsoft.com/office/drawing/2014/main" id="{B69D1B51-80A4-4F90-8556-0E4F8DEDF10F}"/>
              </a:ext>
            </a:extLst>
          </p:cNvPr>
          <p:cNvSpPr>
            <a:spLocks noGrp="1"/>
          </p:cNvSpPr>
          <p:nvPr/>
        </p:nvSpPr>
        <p:spPr>
          <a:xfrm>
            <a:off x="742950" y="3670935"/>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The bank supplies customer financial aggregates and assumed retention rates. Transaction volume alone does not measure bank revenue or contribution.</a:t>
            </a:r>
          </a:p>
        </p:txBody>
      </p:sp>
      <p:sp>
        <p:nvSpPr>
          <p:cNvPr id="7" name="footer">
            <a:extLst>
              <a:ext uri="{FF2B5EF4-FFF2-40B4-BE49-F238E27FC236}">
                <a16:creationId xmlns:a16="http://schemas.microsoft.com/office/drawing/2014/main" id="{EF62D58B-E9E8-4193-AB52-65773D8C7804}"/>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8" name="slide-number">
            <a:extLst>
              <a:ext uri="{FF2B5EF4-FFF2-40B4-BE49-F238E27FC236}">
                <a16:creationId xmlns:a16="http://schemas.microsoft.com/office/drawing/2014/main" id="{93D9390F-6A4A-44E8-9E9F-BAA4E1056456}"/>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02 / 13</a:t>
            </a:r>
          </a:p>
        </p:txBody>
      </p:sp>
    </p:spTree>
    <p:extLst>
      <p:ext uri="{BB962C8B-B14F-4D97-AF65-F5344CB8AC3E}">
        <p14:creationId xmlns:p14="http://schemas.microsoft.com/office/powerpoint/2010/main" val="1284892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F3BD5A1-E683-44FE-835D-E200FF95D655}"/>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Analysis Specifications</a:t>
            </a:r>
          </a:p>
        </p:txBody>
      </p:sp>
      <p:sp>
        <p:nvSpPr>
          <p:cNvPr id="3" name="body-1">
            <a:extLst>
              <a:ext uri="{FF2B5EF4-FFF2-40B4-BE49-F238E27FC236}">
                <a16:creationId xmlns:a16="http://schemas.microsoft.com/office/drawing/2014/main" id="{B4EB3688-704F-4594-926F-EC5AB7E383BE}"/>
              </a:ext>
            </a:extLst>
          </p:cNvPr>
          <p:cNvSpPr>
            <a:spLocks noGrp="1"/>
          </p:cNvSpPr>
          <p:nvPr/>
        </p:nvSpPr>
        <p:spPr>
          <a:xfrm>
            <a:off x="742950" y="1466850"/>
            <a:ext cx="10668000" cy="387477"/>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As-of date: October 1, 2026. Use only information available before this date.</a:t>
            </a:r>
          </a:p>
        </p:txBody>
      </p:sp>
      <p:sp>
        <p:nvSpPr>
          <p:cNvPr id="4" name="body-2">
            <a:extLst>
              <a:ext uri="{FF2B5EF4-FFF2-40B4-BE49-F238E27FC236}">
                <a16:creationId xmlns:a16="http://schemas.microsoft.com/office/drawing/2014/main" id="{AE288F32-6C02-45CE-834A-7AF3A7A72FB4}"/>
              </a:ext>
            </a:extLst>
          </p:cNvPr>
          <p:cNvSpPr>
            <a:spLocks noGrp="1"/>
          </p:cNvSpPr>
          <p:nvPr/>
        </p:nvSpPr>
        <p:spPr>
          <a:xfrm>
            <a:off x="742950" y="2006727"/>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Observation period: October 1, 2025 to September 30, 2026. Each economics row should cover this full period.</a:t>
            </a:r>
          </a:p>
        </p:txBody>
      </p:sp>
      <p:sp>
        <p:nvSpPr>
          <p:cNvPr id="5" name="body-3">
            <a:extLst>
              <a:ext uri="{FF2B5EF4-FFF2-40B4-BE49-F238E27FC236}">
                <a16:creationId xmlns:a16="http://schemas.microsoft.com/office/drawing/2014/main" id="{E87AF85A-E28C-47B1-A831-B4D827012D14}"/>
              </a:ext>
            </a:extLst>
          </p:cNvPr>
          <p:cNvSpPr>
            <a:spLocks noGrp="1"/>
          </p:cNvSpPr>
          <p:nvPr/>
        </p:nvSpPr>
        <p:spPr>
          <a:xfrm>
            <a:off x="742950" y="2838831"/>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Forecast horizon: three annual periods ending September 30 in 2027, 2028 and 2029. All values are in VND.</a:t>
            </a:r>
          </a:p>
        </p:txBody>
      </p:sp>
      <p:sp>
        <p:nvSpPr>
          <p:cNvPr id="6" name="body-4">
            <a:extLst>
              <a:ext uri="{FF2B5EF4-FFF2-40B4-BE49-F238E27FC236}">
                <a16:creationId xmlns:a16="http://schemas.microsoft.com/office/drawing/2014/main" id="{F3A1133F-BE4D-4CDB-B393-D1E3E103AD23}"/>
              </a:ext>
            </a:extLst>
          </p:cNvPr>
          <p:cNvSpPr>
            <a:spLocks noGrp="1"/>
          </p:cNvSpPr>
          <p:nvPr/>
        </p:nvSpPr>
        <p:spPr>
          <a:xfrm>
            <a:off x="742950" y="3670935"/>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Use an annual discount rate d = 10%. Treat each valid supplied r as a constant annual conditional retention probability.</a:t>
            </a:r>
          </a:p>
        </p:txBody>
      </p:sp>
      <p:sp>
        <p:nvSpPr>
          <p:cNvPr id="7" name="body-5">
            <a:extLst>
              <a:ext uri="{FF2B5EF4-FFF2-40B4-BE49-F238E27FC236}">
                <a16:creationId xmlns:a16="http://schemas.microsoft.com/office/drawing/2014/main" id="{F5ED22E7-286A-43C0-8A23-4845F2B0EA0D}"/>
              </a:ext>
            </a:extLst>
          </p:cNvPr>
          <p:cNvSpPr>
            <a:spLocks noGrp="1"/>
          </p:cNvSpPr>
          <p:nvPr/>
        </p:nvSpPr>
        <p:spPr>
          <a:xfrm>
            <a:off x="742950" y="4503039"/>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Assume permanent attrition and constant annual contribution while retained. Include no growth or terminal value.</a:t>
            </a:r>
          </a:p>
        </p:txBody>
      </p:sp>
      <p:sp>
        <p:nvSpPr>
          <p:cNvPr id="8" name="footer">
            <a:extLst>
              <a:ext uri="{FF2B5EF4-FFF2-40B4-BE49-F238E27FC236}">
                <a16:creationId xmlns:a16="http://schemas.microsoft.com/office/drawing/2014/main" id="{9E218297-0008-49C2-BFEE-1E553BEC6625}"/>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9" name="slide-number">
            <a:extLst>
              <a:ext uri="{FF2B5EF4-FFF2-40B4-BE49-F238E27FC236}">
                <a16:creationId xmlns:a16="http://schemas.microsoft.com/office/drawing/2014/main" id="{EDF0B173-972A-4033-98D6-3411F736A5B7}"/>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05 / 13</a:t>
            </a:r>
          </a:p>
        </p:txBody>
      </p:sp>
    </p:spTree>
    <p:extLst>
      <p:ext uri="{BB962C8B-B14F-4D97-AF65-F5344CB8AC3E}">
        <p14:creationId xmlns:p14="http://schemas.microsoft.com/office/powerpoint/2010/main" val="797125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5AE0CC5-F3F5-4ADD-9F84-E87D53EA9A5B}"/>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Task 1: Data Preparation (20 points)</a:t>
            </a:r>
          </a:p>
        </p:txBody>
      </p:sp>
      <p:sp>
        <p:nvSpPr>
          <p:cNvPr id="3" name="body-1">
            <a:extLst>
              <a:ext uri="{FF2B5EF4-FFF2-40B4-BE49-F238E27FC236}">
                <a16:creationId xmlns:a16="http://schemas.microsoft.com/office/drawing/2014/main" id="{0F28D887-F66C-4E41-8262-8B1D93264B07}"/>
              </a:ext>
            </a:extLst>
          </p:cNvPr>
          <p:cNvSpPr>
            <a:spLocks noGrp="1"/>
          </p:cNvSpPr>
          <p:nvPr/>
        </p:nvSpPr>
        <p:spPr>
          <a:xfrm>
            <a:off x="742950" y="1466850"/>
            <a:ext cx="10668000" cy="376238"/>
          </a:xfrm>
          <a:prstGeom prst="rect">
            <a:avLst/>
          </a:prstGeom>
          <a:noFill/>
          <a:ln w="0">
            <a:noFill/>
          </a:ln>
        </p:spPr>
        <p:txBody>
          <a:bodyPr wrap="square" lIns="0" tIns="0" rIns="0" bIns="0" anchor="t">
            <a:noAutofit/>
          </a:bodyPr>
          <a:lstStyle>
            <a:defPPr>
              <a:defRPr sz="1875" b="0">
                <a:solidFill>
                  <a:srgbClr val="222222"/>
                </a:solidFill>
                <a:latin typeface="Arial"/>
                <a:ea typeface="Arial"/>
                <a:cs typeface="Arial"/>
              </a:defRPr>
            </a:defPPr>
            <a:lvl1pPr>
              <a:defRPr sz="1875" b="0">
                <a:solidFill>
                  <a:srgbClr val="222222"/>
                </a:solidFill>
                <a:latin typeface="Arial"/>
                <a:ea typeface="Arial"/>
                <a:cs typeface="Arial"/>
              </a:defRPr>
            </a:lvl1pPr>
            <a:lvl2pPr>
              <a:defRPr sz="1875" b="0">
                <a:solidFill>
                  <a:srgbClr val="222222"/>
                </a:solidFill>
                <a:latin typeface="Arial"/>
                <a:ea typeface="Arial"/>
                <a:cs typeface="Arial"/>
              </a:defRPr>
            </a:lvl2pPr>
            <a:lvl3pPr>
              <a:defRPr sz="1875" b="0">
                <a:solidFill>
                  <a:srgbClr val="222222"/>
                </a:solidFill>
                <a:latin typeface="Arial"/>
                <a:ea typeface="Arial"/>
                <a:cs typeface="Arial"/>
              </a:defRPr>
            </a:lvl3pPr>
            <a:lvl4pPr>
              <a:defRPr sz="1875" b="0">
                <a:solidFill>
                  <a:srgbClr val="222222"/>
                </a:solidFill>
                <a:latin typeface="Arial"/>
                <a:ea typeface="Arial"/>
                <a:cs typeface="Arial"/>
              </a:defRPr>
            </a:lvl4pPr>
            <a:lvl5pPr>
              <a:defRPr sz="1875" b="0">
                <a:solidFill>
                  <a:srgbClr val="222222"/>
                </a:solidFill>
                <a:latin typeface="Arial"/>
                <a:ea typeface="Arial"/>
                <a:cs typeface="Arial"/>
              </a:defRPr>
            </a:lvl5pPr>
            <a:lvl6pPr>
              <a:defRPr sz="1875" b="0">
                <a:solidFill>
                  <a:srgbClr val="222222"/>
                </a:solidFill>
                <a:latin typeface="Arial"/>
                <a:ea typeface="Arial"/>
                <a:cs typeface="Arial"/>
              </a:defRPr>
            </a:lvl6pPr>
            <a:lvl7pPr>
              <a:defRPr sz="1875" b="0">
                <a:solidFill>
                  <a:srgbClr val="222222"/>
                </a:solidFill>
                <a:latin typeface="Arial"/>
                <a:ea typeface="Arial"/>
                <a:cs typeface="Arial"/>
              </a:defRPr>
            </a:lvl7pPr>
            <a:lvl8pPr>
              <a:defRPr sz="1875" b="0">
                <a:solidFill>
                  <a:srgbClr val="222222"/>
                </a:solidFill>
                <a:latin typeface="Arial"/>
                <a:ea typeface="Arial"/>
                <a:cs typeface="Arial"/>
              </a:defRPr>
            </a:lvl8pPr>
            <a:lvl9pPr>
              <a:defRPr sz="1875" b="0">
                <a:solidFill>
                  <a:srgbClr val="222222"/>
                </a:solidFill>
                <a:latin typeface="Arial"/>
                <a:ea typeface="Arial"/>
                <a:cs typeface="Arial"/>
              </a:defRPr>
            </a:lvl9pPr>
          </a:lstStyle>
          <a:p>
            <a:pPr>
              <a:lnSpc>
                <a:spcPct val="112000"/>
              </a:lnSpc>
              <a:buNone/>
              <a:defRPr sz="1875" b="0">
                <a:solidFill>
                  <a:srgbClr val="222222"/>
                </a:solidFill>
                <a:latin typeface="Arial"/>
                <a:ea typeface="Arial"/>
                <a:cs typeface="Arial"/>
              </a:defRPr>
            </a:pPr>
            <a:r>
              <a:rPr sz="1875" b="0">
                <a:solidFill>
                  <a:srgbClr val="222222"/>
                </a:solidFill>
                <a:latin typeface="Arial"/>
                <a:ea typeface="Arial"/>
                <a:cs typeface="Arial"/>
              </a:rPr>
              <a:t>Profile missing values, duplicates, customer keys, dates and numeric ranges.</a:t>
            </a:r>
          </a:p>
        </p:txBody>
      </p:sp>
      <p:sp>
        <p:nvSpPr>
          <p:cNvPr id="4" name="body-2">
            <a:extLst>
              <a:ext uri="{FF2B5EF4-FFF2-40B4-BE49-F238E27FC236}">
                <a16:creationId xmlns:a16="http://schemas.microsoft.com/office/drawing/2014/main" id="{4B4FB686-5A48-49F7-A5E8-5C1A94EFA44C}"/>
              </a:ext>
            </a:extLst>
          </p:cNvPr>
          <p:cNvSpPr>
            <a:spLocks noGrp="1"/>
          </p:cNvSpPr>
          <p:nvPr/>
        </p:nvSpPr>
        <p:spPr>
          <a:xfrm>
            <a:off x="742950" y="1995488"/>
            <a:ext cx="10668000" cy="657225"/>
          </a:xfrm>
          <a:prstGeom prst="rect">
            <a:avLst/>
          </a:prstGeom>
          <a:noFill/>
          <a:ln w="0">
            <a:noFill/>
          </a:ln>
        </p:spPr>
        <p:txBody>
          <a:bodyPr wrap="square" lIns="0" tIns="0" rIns="0" bIns="0" anchor="t">
            <a:noAutofit/>
          </a:bodyPr>
          <a:lstStyle>
            <a:defPPr>
              <a:defRPr sz="1875" b="0">
                <a:solidFill>
                  <a:srgbClr val="222222"/>
                </a:solidFill>
                <a:latin typeface="Arial"/>
                <a:ea typeface="Arial"/>
                <a:cs typeface="Arial"/>
              </a:defRPr>
            </a:defPPr>
            <a:lvl1pPr>
              <a:defRPr sz="1875" b="0">
                <a:solidFill>
                  <a:srgbClr val="222222"/>
                </a:solidFill>
                <a:latin typeface="Arial"/>
                <a:ea typeface="Arial"/>
                <a:cs typeface="Arial"/>
              </a:defRPr>
            </a:lvl1pPr>
            <a:lvl2pPr>
              <a:defRPr sz="1875" b="0">
                <a:solidFill>
                  <a:srgbClr val="222222"/>
                </a:solidFill>
                <a:latin typeface="Arial"/>
                <a:ea typeface="Arial"/>
                <a:cs typeface="Arial"/>
              </a:defRPr>
            </a:lvl2pPr>
            <a:lvl3pPr>
              <a:defRPr sz="1875" b="0">
                <a:solidFill>
                  <a:srgbClr val="222222"/>
                </a:solidFill>
                <a:latin typeface="Arial"/>
                <a:ea typeface="Arial"/>
                <a:cs typeface="Arial"/>
              </a:defRPr>
            </a:lvl3pPr>
            <a:lvl4pPr>
              <a:defRPr sz="1875" b="0">
                <a:solidFill>
                  <a:srgbClr val="222222"/>
                </a:solidFill>
                <a:latin typeface="Arial"/>
                <a:ea typeface="Arial"/>
                <a:cs typeface="Arial"/>
              </a:defRPr>
            </a:lvl4pPr>
            <a:lvl5pPr>
              <a:defRPr sz="1875" b="0">
                <a:solidFill>
                  <a:srgbClr val="222222"/>
                </a:solidFill>
                <a:latin typeface="Arial"/>
                <a:ea typeface="Arial"/>
                <a:cs typeface="Arial"/>
              </a:defRPr>
            </a:lvl5pPr>
            <a:lvl6pPr>
              <a:defRPr sz="1875" b="0">
                <a:solidFill>
                  <a:srgbClr val="222222"/>
                </a:solidFill>
                <a:latin typeface="Arial"/>
                <a:ea typeface="Arial"/>
                <a:cs typeface="Arial"/>
              </a:defRPr>
            </a:lvl6pPr>
            <a:lvl7pPr>
              <a:defRPr sz="1875" b="0">
                <a:solidFill>
                  <a:srgbClr val="222222"/>
                </a:solidFill>
                <a:latin typeface="Arial"/>
                <a:ea typeface="Arial"/>
                <a:cs typeface="Arial"/>
              </a:defRPr>
            </a:lvl7pPr>
            <a:lvl8pPr>
              <a:defRPr sz="1875" b="0">
                <a:solidFill>
                  <a:srgbClr val="222222"/>
                </a:solidFill>
                <a:latin typeface="Arial"/>
                <a:ea typeface="Arial"/>
                <a:cs typeface="Arial"/>
              </a:defRPr>
            </a:lvl8pPr>
            <a:lvl9pPr>
              <a:defRPr sz="1875" b="0">
                <a:solidFill>
                  <a:srgbClr val="222222"/>
                </a:solidFill>
                <a:latin typeface="Arial"/>
                <a:ea typeface="Arial"/>
                <a:cs typeface="Arial"/>
              </a:defRPr>
            </a:lvl9pPr>
          </a:lstStyle>
          <a:p>
            <a:pPr>
              <a:lnSpc>
                <a:spcPct val="112000"/>
              </a:lnSpc>
              <a:buNone/>
              <a:defRPr sz="1875" b="0">
                <a:solidFill>
                  <a:srgbClr val="222222"/>
                </a:solidFill>
                <a:latin typeface="Arial"/>
                <a:ea typeface="Arial"/>
                <a:cs typeface="Arial"/>
              </a:defRPr>
            </a:pPr>
            <a:r>
              <a:rPr sz="1875" b="0">
                <a:solidFill>
                  <a:srgbClr val="222222"/>
                </a:solidFill>
                <a:latin typeface="Arial"/>
                <a:ea typeface="Arial"/>
                <a:cs typeface="Arial"/>
              </a:rPr>
              <a:t>Remove exact duplicate economics rows. Resolve or flag any conflicting rows. Check unmatched IDs and the required observation period.</a:t>
            </a:r>
          </a:p>
        </p:txBody>
      </p:sp>
      <p:sp>
        <p:nvSpPr>
          <p:cNvPr id="5" name="body-3">
            <a:extLst>
              <a:ext uri="{FF2B5EF4-FFF2-40B4-BE49-F238E27FC236}">
                <a16:creationId xmlns:a16="http://schemas.microsoft.com/office/drawing/2014/main" id="{A5B9C08B-2E7E-4529-8FC1-78E71E03A3C9}"/>
              </a:ext>
            </a:extLst>
          </p:cNvPr>
          <p:cNvSpPr>
            <a:spLocks noGrp="1"/>
          </p:cNvSpPr>
          <p:nvPr/>
        </p:nvSpPr>
        <p:spPr>
          <a:xfrm>
            <a:off x="742950" y="2805113"/>
            <a:ext cx="10668000" cy="657225"/>
          </a:xfrm>
          <a:prstGeom prst="rect">
            <a:avLst/>
          </a:prstGeom>
          <a:noFill/>
          <a:ln w="0">
            <a:noFill/>
          </a:ln>
        </p:spPr>
        <p:txBody>
          <a:bodyPr wrap="square" lIns="0" tIns="0" rIns="0" bIns="0" anchor="t">
            <a:noAutofit/>
          </a:bodyPr>
          <a:lstStyle>
            <a:defPPr>
              <a:defRPr sz="1875" b="0">
                <a:solidFill>
                  <a:srgbClr val="222222"/>
                </a:solidFill>
                <a:latin typeface="Arial"/>
                <a:ea typeface="Arial"/>
                <a:cs typeface="Arial"/>
              </a:defRPr>
            </a:defPPr>
            <a:lvl1pPr>
              <a:defRPr sz="1875" b="0">
                <a:solidFill>
                  <a:srgbClr val="222222"/>
                </a:solidFill>
                <a:latin typeface="Arial"/>
                <a:ea typeface="Arial"/>
                <a:cs typeface="Arial"/>
              </a:defRPr>
            </a:lvl1pPr>
            <a:lvl2pPr>
              <a:defRPr sz="1875" b="0">
                <a:solidFill>
                  <a:srgbClr val="222222"/>
                </a:solidFill>
                <a:latin typeface="Arial"/>
                <a:ea typeface="Arial"/>
                <a:cs typeface="Arial"/>
              </a:defRPr>
            </a:lvl2pPr>
            <a:lvl3pPr>
              <a:defRPr sz="1875" b="0">
                <a:solidFill>
                  <a:srgbClr val="222222"/>
                </a:solidFill>
                <a:latin typeface="Arial"/>
                <a:ea typeface="Arial"/>
                <a:cs typeface="Arial"/>
              </a:defRPr>
            </a:lvl3pPr>
            <a:lvl4pPr>
              <a:defRPr sz="1875" b="0">
                <a:solidFill>
                  <a:srgbClr val="222222"/>
                </a:solidFill>
                <a:latin typeface="Arial"/>
                <a:ea typeface="Arial"/>
                <a:cs typeface="Arial"/>
              </a:defRPr>
            </a:lvl4pPr>
            <a:lvl5pPr>
              <a:defRPr sz="1875" b="0">
                <a:solidFill>
                  <a:srgbClr val="222222"/>
                </a:solidFill>
                <a:latin typeface="Arial"/>
                <a:ea typeface="Arial"/>
                <a:cs typeface="Arial"/>
              </a:defRPr>
            </a:lvl5pPr>
            <a:lvl6pPr>
              <a:defRPr sz="1875" b="0">
                <a:solidFill>
                  <a:srgbClr val="222222"/>
                </a:solidFill>
                <a:latin typeface="Arial"/>
                <a:ea typeface="Arial"/>
                <a:cs typeface="Arial"/>
              </a:defRPr>
            </a:lvl6pPr>
            <a:lvl7pPr>
              <a:defRPr sz="1875" b="0">
                <a:solidFill>
                  <a:srgbClr val="222222"/>
                </a:solidFill>
                <a:latin typeface="Arial"/>
                <a:ea typeface="Arial"/>
                <a:cs typeface="Arial"/>
              </a:defRPr>
            </a:lvl7pPr>
            <a:lvl8pPr>
              <a:defRPr sz="1875" b="0">
                <a:solidFill>
                  <a:srgbClr val="222222"/>
                </a:solidFill>
                <a:latin typeface="Arial"/>
                <a:ea typeface="Arial"/>
                <a:cs typeface="Arial"/>
              </a:defRPr>
            </a:lvl8pPr>
            <a:lvl9pPr>
              <a:defRPr sz="1875" b="0">
                <a:solidFill>
                  <a:srgbClr val="222222"/>
                </a:solidFill>
                <a:latin typeface="Arial"/>
                <a:ea typeface="Arial"/>
                <a:cs typeface="Arial"/>
              </a:defRPr>
            </a:lvl9pPr>
          </a:lstStyle>
          <a:p>
            <a:pPr>
              <a:lnSpc>
                <a:spcPct val="112000"/>
              </a:lnSpc>
              <a:buNone/>
              <a:defRPr sz="1875" b="0">
                <a:solidFill>
                  <a:srgbClr val="222222"/>
                </a:solidFill>
                <a:latin typeface="Arial"/>
                <a:ea typeface="Arial"/>
                <a:cs typeface="Arial"/>
              </a:defRPr>
            </a:pPr>
            <a:r>
              <a:rPr sz="1875" b="0">
                <a:solidFill>
                  <a:srgbClr val="222222"/>
                </a:solidFill>
                <a:latin typeface="Arial"/>
                <a:ea typeface="Arial"/>
                <a:cs typeface="Arial"/>
              </a:rPr>
              <a:t>For this exercise, all four financial inputs must be nonnegative and r must lie between 0 and 1. Justify how you handle invalid or missing inputs.</a:t>
            </a:r>
          </a:p>
        </p:txBody>
      </p:sp>
      <p:sp>
        <p:nvSpPr>
          <p:cNvPr id="6" name="body-4">
            <a:extLst>
              <a:ext uri="{FF2B5EF4-FFF2-40B4-BE49-F238E27FC236}">
                <a16:creationId xmlns:a16="http://schemas.microsoft.com/office/drawing/2014/main" id="{769846AD-8C78-4E1F-A6EE-EDC2FAC9F2CD}"/>
              </a:ext>
            </a:extLst>
          </p:cNvPr>
          <p:cNvSpPr>
            <a:spLocks noGrp="1"/>
          </p:cNvSpPr>
          <p:nvPr/>
        </p:nvSpPr>
        <p:spPr>
          <a:xfrm>
            <a:off x="742950" y="3614738"/>
            <a:ext cx="10668000" cy="657225"/>
          </a:xfrm>
          <a:prstGeom prst="rect">
            <a:avLst/>
          </a:prstGeom>
          <a:noFill/>
          <a:ln w="0">
            <a:noFill/>
          </a:ln>
        </p:spPr>
        <p:txBody>
          <a:bodyPr wrap="square" lIns="0" tIns="0" rIns="0" bIns="0" anchor="t">
            <a:noAutofit/>
          </a:bodyPr>
          <a:lstStyle>
            <a:defPPr>
              <a:defRPr sz="1875" b="0">
                <a:solidFill>
                  <a:srgbClr val="222222"/>
                </a:solidFill>
                <a:latin typeface="Arial"/>
                <a:ea typeface="Arial"/>
                <a:cs typeface="Arial"/>
              </a:defRPr>
            </a:defPPr>
            <a:lvl1pPr>
              <a:defRPr sz="1875" b="0">
                <a:solidFill>
                  <a:srgbClr val="222222"/>
                </a:solidFill>
                <a:latin typeface="Arial"/>
                <a:ea typeface="Arial"/>
                <a:cs typeface="Arial"/>
              </a:defRPr>
            </a:lvl1pPr>
            <a:lvl2pPr>
              <a:defRPr sz="1875" b="0">
                <a:solidFill>
                  <a:srgbClr val="222222"/>
                </a:solidFill>
                <a:latin typeface="Arial"/>
                <a:ea typeface="Arial"/>
                <a:cs typeface="Arial"/>
              </a:defRPr>
            </a:lvl2pPr>
            <a:lvl3pPr>
              <a:defRPr sz="1875" b="0">
                <a:solidFill>
                  <a:srgbClr val="222222"/>
                </a:solidFill>
                <a:latin typeface="Arial"/>
                <a:ea typeface="Arial"/>
                <a:cs typeface="Arial"/>
              </a:defRPr>
            </a:lvl3pPr>
            <a:lvl4pPr>
              <a:defRPr sz="1875" b="0">
                <a:solidFill>
                  <a:srgbClr val="222222"/>
                </a:solidFill>
                <a:latin typeface="Arial"/>
                <a:ea typeface="Arial"/>
                <a:cs typeface="Arial"/>
              </a:defRPr>
            </a:lvl4pPr>
            <a:lvl5pPr>
              <a:defRPr sz="1875" b="0">
                <a:solidFill>
                  <a:srgbClr val="222222"/>
                </a:solidFill>
                <a:latin typeface="Arial"/>
                <a:ea typeface="Arial"/>
                <a:cs typeface="Arial"/>
              </a:defRPr>
            </a:lvl5pPr>
            <a:lvl6pPr>
              <a:defRPr sz="1875" b="0">
                <a:solidFill>
                  <a:srgbClr val="222222"/>
                </a:solidFill>
                <a:latin typeface="Arial"/>
                <a:ea typeface="Arial"/>
                <a:cs typeface="Arial"/>
              </a:defRPr>
            </a:lvl6pPr>
            <a:lvl7pPr>
              <a:defRPr sz="1875" b="0">
                <a:solidFill>
                  <a:srgbClr val="222222"/>
                </a:solidFill>
                <a:latin typeface="Arial"/>
                <a:ea typeface="Arial"/>
                <a:cs typeface="Arial"/>
              </a:defRPr>
            </a:lvl7pPr>
            <a:lvl8pPr>
              <a:defRPr sz="1875" b="0">
                <a:solidFill>
                  <a:srgbClr val="222222"/>
                </a:solidFill>
                <a:latin typeface="Arial"/>
                <a:ea typeface="Arial"/>
                <a:cs typeface="Arial"/>
              </a:defRPr>
            </a:lvl8pPr>
            <a:lvl9pPr>
              <a:defRPr sz="1875" b="0">
                <a:solidFill>
                  <a:srgbClr val="222222"/>
                </a:solidFill>
                <a:latin typeface="Arial"/>
                <a:ea typeface="Arial"/>
                <a:cs typeface="Arial"/>
              </a:defRPr>
            </a:lvl9pPr>
          </a:lstStyle>
          <a:p>
            <a:pPr>
              <a:lnSpc>
                <a:spcPct val="112000"/>
              </a:lnSpc>
              <a:buNone/>
              <a:defRPr sz="1875" b="0">
                <a:solidFill>
                  <a:srgbClr val="222222"/>
                </a:solidFill>
                <a:latin typeface="Arial"/>
                <a:ea typeface="Arial"/>
                <a:cs typeface="Arial"/>
              </a:defRPr>
            </a:pPr>
            <a:r>
              <a:rPr sz="1875" b="0">
                <a:solidFill>
                  <a:srgbClr val="222222"/>
                </a:solidFill>
                <a:latin typeface="Arial"/>
                <a:ea typeface="Arial"/>
                <a:cs typeface="Arial"/>
              </a:rPr>
              <a:t>Keep genuine zero inputs and negative calculated contribution. Retain all 200 roster customers, flagging any unavailable CLV separately from zero.</a:t>
            </a:r>
          </a:p>
        </p:txBody>
      </p:sp>
      <p:sp>
        <p:nvSpPr>
          <p:cNvPr id="7" name="body-5">
            <a:extLst>
              <a:ext uri="{FF2B5EF4-FFF2-40B4-BE49-F238E27FC236}">
                <a16:creationId xmlns:a16="http://schemas.microsoft.com/office/drawing/2014/main" id="{C03A4337-C577-4E88-898A-9BB48DE51E14}"/>
              </a:ext>
            </a:extLst>
          </p:cNvPr>
          <p:cNvSpPr>
            <a:spLocks noGrp="1"/>
          </p:cNvSpPr>
          <p:nvPr/>
        </p:nvSpPr>
        <p:spPr>
          <a:xfrm>
            <a:off x="742950" y="4424363"/>
            <a:ext cx="10668000" cy="376238"/>
          </a:xfrm>
          <a:prstGeom prst="rect">
            <a:avLst/>
          </a:prstGeom>
          <a:noFill/>
          <a:ln w="0">
            <a:noFill/>
          </a:ln>
        </p:spPr>
        <p:txBody>
          <a:bodyPr wrap="square" lIns="0" tIns="0" rIns="0" bIns="0" anchor="t">
            <a:noAutofit/>
          </a:bodyPr>
          <a:lstStyle>
            <a:defPPr>
              <a:defRPr sz="1875" b="0">
                <a:solidFill>
                  <a:srgbClr val="222222"/>
                </a:solidFill>
                <a:latin typeface="Arial"/>
                <a:ea typeface="Arial"/>
                <a:cs typeface="Arial"/>
              </a:defRPr>
            </a:defPPr>
            <a:lvl1pPr>
              <a:defRPr sz="1875" b="0">
                <a:solidFill>
                  <a:srgbClr val="222222"/>
                </a:solidFill>
                <a:latin typeface="Arial"/>
                <a:ea typeface="Arial"/>
                <a:cs typeface="Arial"/>
              </a:defRPr>
            </a:lvl1pPr>
            <a:lvl2pPr>
              <a:defRPr sz="1875" b="0">
                <a:solidFill>
                  <a:srgbClr val="222222"/>
                </a:solidFill>
                <a:latin typeface="Arial"/>
                <a:ea typeface="Arial"/>
                <a:cs typeface="Arial"/>
              </a:defRPr>
            </a:lvl2pPr>
            <a:lvl3pPr>
              <a:defRPr sz="1875" b="0">
                <a:solidFill>
                  <a:srgbClr val="222222"/>
                </a:solidFill>
                <a:latin typeface="Arial"/>
                <a:ea typeface="Arial"/>
                <a:cs typeface="Arial"/>
              </a:defRPr>
            </a:lvl3pPr>
            <a:lvl4pPr>
              <a:defRPr sz="1875" b="0">
                <a:solidFill>
                  <a:srgbClr val="222222"/>
                </a:solidFill>
                <a:latin typeface="Arial"/>
                <a:ea typeface="Arial"/>
                <a:cs typeface="Arial"/>
              </a:defRPr>
            </a:lvl4pPr>
            <a:lvl5pPr>
              <a:defRPr sz="1875" b="0">
                <a:solidFill>
                  <a:srgbClr val="222222"/>
                </a:solidFill>
                <a:latin typeface="Arial"/>
                <a:ea typeface="Arial"/>
                <a:cs typeface="Arial"/>
              </a:defRPr>
            </a:lvl5pPr>
            <a:lvl6pPr>
              <a:defRPr sz="1875" b="0">
                <a:solidFill>
                  <a:srgbClr val="222222"/>
                </a:solidFill>
                <a:latin typeface="Arial"/>
                <a:ea typeface="Arial"/>
                <a:cs typeface="Arial"/>
              </a:defRPr>
            </a:lvl6pPr>
            <a:lvl7pPr>
              <a:defRPr sz="1875" b="0">
                <a:solidFill>
                  <a:srgbClr val="222222"/>
                </a:solidFill>
                <a:latin typeface="Arial"/>
                <a:ea typeface="Arial"/>
                <a:cs typeface="Arial"/>
              </a:defRPr>
            </a:lvl7pPr>
            <a:lvl8pPr>
              <a:defRPr sz="1875" b="0">
                <a:solidFill>
                  <a:srgbClr val="222222"/>
                </a:solidFill>
                <a:latin typeface="Arial"/>
                <a:ea typeface="Arial"/>
                <a:cs typeface="Arial"/>
              </a:defRPr>
            </a:lvl8pPr>
            <a:lvl9pPr>
              <a:defRPr sz="1875" b="0">
                <a:solidFill>
                  <a:srgbClr val="222222"/>
                </a:solidFill>
                <a:latin typeface="Arial"/>
                <a:ea typeface="Arial"/>
                <a:cs typeface="Arial"/>
              </a:defRPr>
            </a:lvl9pPr>
          </a:lstStyle>
          <a:p>
            <a:pPr>
              <a:lnSpc>
                <a:spcPct val="112000"/>
              </a:lnSpc>
              <a:buNone/>
              <a:defRPr sz="1875" b="0">
                <a:solidFill>
                  <a:srgbClr val="222222"/>
                </a:solidFill>
                <a:latin typeface="Arial"/>
                <a:ea typeface="Arial"/>
                <a:cs typeface="Arial"/>
              </a:defRPr>
            </a:pPr>
            <a:r>
              <a:rPr sz="1875" b="0">
                <a:solidFill>
                  <a:srgbClr val="222222"/>
                </a:solidFill>
                <a:latin typeface="Arial"/>
                <a:ea typeface="Arial"/>
                <a:cs typeface="Arial"/>
              </a:rPr>
              <a:t>Report exclusions by reason and reconcile raw rows, cleaned rows and the final customer count.</a:t>
            </a:r>
          </a:p>
        </p:txBody>
      </p:sp>
      <p:sp>
        <p:nvSpPr>
          <p:cNvPr id="8" name="footer">
            <a:extLst>
              <a:ext uri="{FF2B5EF4-FFF2-40B4-BE49-F238E27FC236}">
                <a16:creationId xmlns:a16="http://schemas.microsoft.com/office/drawing/2014/main" id="{DCA8CC07-EEA7-4C22-8B17-5E83FCAA4CB6}"/>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9" name="slide-number">
            <a:extLst>
              <a:ext uri="{FF2B5EF4-FFF2-40B4-BE49-F238E27FC236}">
                <a16:creationId xmlns:a16="http://schemas.microsoft.com/office/drawing/2014/main" id="{2D0AC557-DA31-4491-AF80-C2A725719F86}"/>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06 / 13</a:t>
            </a:r>
          </a:p>
        </p:txBody>
      </p:sp>
    </p:spTree>
    <p:extLst>
      <p:ext uri="{BB962C8B-B14F-4D97-AF65-F5344CB8AC3E}">
        <p14:creationId xmlns:p14="http://schemas.microsoft.com/office/powerpoint/2010/main" val="222467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842F7DE-E73E-41AA-9AE3-A563F991122D}"/>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Task 2: CLV Calculation (25 points)</a:t>
            </a:r>
          </a:p>
        </p:txBody>
      </p:sp>
      <p:sp>
        <p:nvSpPr>
          <p:cNvPr id="3" name="body-1">
            <a:extLst>
              <a:ext uri="{FF2B5EF4-FFF2-40B4-BE49-F238E27FC236}">
                <a16:creationId xmlns:a16="http://schemas.microsoft.com/office/drawing/2014/main" id="{F7965897-0FF2-4057-9950-394CE3C6C9CA}"/>
              </a:ext>
            </a:extLst>
          </p:cNvPr>
          <p:cNvSpPr>
            <a:spLocks noGrp="1"/>
          </p:cNvSpPr>
          <p:nvPr/>
        </p:nvSpPr>
        <p:spPr>
          <a:xfrm>
            <a:off x="742950" y="1466850"/>
            <a:ext cx="10668000" cy="612267"/>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Annual contribution m = fee_revenue_vnd + net_interest_income_vnd − servicing_cost_vnd − expected_credit_loss_vnd.</a:t>
            </a:r>
          </a:p>
        </p:txBody>
      </p:sp>
      <p:sp>
        <p:nvSpPr>
          <p:cNvPr id="4" name="body-2">
            <a:extLst>
              <a:ext uri="{FF2B5EF4-FFF2-40B4-BE49-F238E27FC236}">
                <a16:creationId xmlns:a16="http://schemas.microsoft.com/office/drawing/2014/main" id="{DB60C739-9292-47CD-9B6B-E54156E58BBD}"/>
              </a:ext>
            </a:extLst>
          </p:cNvPr>
          <p:cNvSpPr>
            <a:spLocks noGrp="1"/>
          </p:cNvSpPr>
          <p:nvPr/>
        </p:nvSpPr>
        <p:spPr>
          <a:xfrm>
            <a:off x="742950" y="2231517"/>
            <a:ext cx="10668000" cy="364998"/>
          </a:xfrm>
          <a:prstGeom prst="rect">
            <a:avLst/>
          </a:prstGeom>
          <a:noFill/>
          <a:ln w="0">
            <a:noFill/>
          </a:ln>
        </p:spPr>
        <p:txBody>
          <a:bodyPr wrap="square" lIns="0" tIns="0" rIns="0" bIns="0" anchor="t">
            <a:noAutofit/>
          </a:bodyPr>
          <a:lstStyle>
            <a:defPPr>
              <a:defRPr sz="1800" b="1">
                <a:solidFill>
                  <a:srgbClr val="132D46"/>
                </a:solidFill>
                <a:latin typeface="Arial"/>
                <a:ea typeface="Arial"/>
                <a:cs typeface="Arial"/>
              </a:defRPr>
            </a:defPPr>
            <a:lvl1pPr>
              <a:defRPr sz="1800" b="1">
                <a:solidFill>
                  <a:srgbClr val="132D46"/>
                </a:solidFill>
                <a:latin typeface="Arial"/>
                <a:ea typeface="Arial"/>
                <a:cs typeface="Arial"/>
              </a:defRPr>
            </a:lvl1pPr>
            <a:lvl2pPr>
              <a:defRPr sz="1800" b="1">
                <a:solidFill>
                  <a:srgbClr val="132D46"/>
                </a:solidFill>
                <a:latin typeface="Arial"/>
                <a:ea typeface="Arial"/>
                <a:cs typeface="Arial"/>
              </a:defRPr>
            </a:lvl2pPr>
            <a:lvl3pPr>
              <a:defRPr sz="1800" b="1">
                <a:solidFill>
                  <a:srgbClr val="132D46"/>
                </a:solidFill>
                <a:latin typeface="Arial"/>
                <a:ea typeface="Arial"/>
                <a:cs typeface="Arial"/>
              </a:defRPr>
            </a:lvl3pPr>
            <a:lvl4pPr>
              <a:defRPr sz="1800" b="1">
                <a:solidFill>
                  <a:srgbClr val="132D46"/>
                </a:solidFill>
                <a:latin typeface="Arial"/>
                <a:ea typeface="Arial"/>
                <a:cs typeface="Arial"/>
              </a:defRPr>
            </a:lvl4pPr>
            <a:lvl5pPr>
              <a:defRPr sz="1800" b="1">
                <a:solidFill>
                  <a:srgbClr val="132D46"/>
                </a:solidFill>
                <a:latin typeface="Arial"/>
                <a:ea typeface="Arial"/>
                <a:cs typeface="Arial"/>
              </a:defRPr>
            </a:lvl5pPr>
            <a:lvl6pPr>
              <a:defRPr sz="1800" b="1">
                <a:solidFill>
                  <a:srgbClr val="132D46"/>
                </a:solidFill>
                <a:latin typeface="Arial"/>
                <a:ea typeface="Arial"/>
                <a:cs typeface="Arial"/>
              </a:defRPr>
            </a:lvl6pPr>
            <a:lvl7pPr>
              <a:defRPr sz="1800" b="1">
                <a:solidFill>
                  <a:srgbClr val="132D46"/>
                </a:solidFill>
                <a:latin typeface="Arial"/>
                <a:ea typeface="Arial"/>
                <a:cs typeface="Arial"/>
              </a:defRPr>
            </a:lvl7pPr>
            <a:lvl8pPr>
              <a:defRPr sz="1800" b="1">
                <a:solidFill>
                  <a:srgbClr val="132D46"/>
                </a:solidFill>
                <a:latin typeface="Arial"/>
                <a:ea typeface="Arial"/>
                <a:cs typeface="Arial"/>
              </a:defRPr>
            </a:lvl8pPr>
            <a:lvl9pPr>
              <a:defRPr sz="1800" b="1">
                <a:solidFill>
                  <a:srgbClr val="132D46"/>
                </a:solidFill>
                <a:latin typeface="Arial"/>
                <a:ea typeface="Arial"/>
                <a:cs typeface="Arial"/>
              </a:defRPr>
            </a:lvl9pPr>
          </a:lstStyle>
          <a:p>
            <a:pPr>
              <a:lnSpc>
                <a:spcPct val="112000"/>
              </a:lnSpc>
              <a:buNone/>
              <a:defRPr sz="1800" b="1">
                <a:solidFill>
                  <a:srgbClr val="132D46"/>
                </a:solidFill>
                <a:latin typeface="Arial"/>
                <a:ea typeface="Arial"/>
                <a:cs typeface="Arial"/>
              </a:defRPr>
            </a:pPr>
            <a:r>
              <a:rPr sz="1800" b="1">
                <a:solidFill>
                  <a:srgbClr val="132D46"/>
                </a:solidFill>
                <a:latin typeface="Arial"/>
                <a:ea typeface="Arial"/>
                <a:cs typeface="Arial"/>
              </a:rPr>
              <a:t>CLV₃ = m × [(r / 1.10) + (r / 1.10)² + (r / 1.10)³]</a:t>
            </a:r>
          </a:p>
        </p:txBody>
      </p:sp>
      <p:sp>
        <p:nvSpPr>
          <p:cNvPr id="5" name="body-3">
            <a:extLst>
              <a:ext uri="{FF2B5EF4-FFF2-40B4-BE49-F238E27FC236}">
                <a16:creationId xmlns:a16="http://schemas.microsoft.com/office/drawing/2014/main" id="{8BDCB9B9-4D1C-44AD-AC92-B9A2A32F4839}"/>
              </a:ext>
            </a:extLst>
          </p:cNvPr>
          <p:cNvSpPr>
            <a:spLocks noGrp="1"/>
          </p:cNvSpPr>
          <p:nvPr/>
        </p:nvSpPr>
        <p:spPr>
          <a:xfrm>
            <a:off x="742950" y="2748915"/>
            <a:ext cx="10668000" cy="353759"/>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For year t = 1, 2, 3: expected contribution = m × rᵗ. Discount each year's expected contribution by (1.10)ᵗ.</a:t>
            </a:r>
          </a:p>
        </p:txBody>
      </p:sp>
      <p:sp>
        <p:nvSpPr>
          <p:cNvPr id="6" name="body-4">
            <a:extLst>
              <a:ext uri="{FF2B5EF4-FFF2-40B4-BE49-F238E27FC236}">
                <a16:creationId xmlns:a16="http://schemas.microsoft.com/office/drawing/2014/main" id="{FA6D486B-F70F-4426-AC0A-C3F7BAA941A5}"/>
              </a:ext>
            </a:extLst>
          </p:cNvPr>
          <p:cNvSpPr>
            <a:spLocks noGrp="1"/>
          </p:cNvSpPr>
          <p:nvPr/>
        </p:nvSpPr>
        <p:spPr>
          <a:xfrm>
            <a:off x="742950" y="3255074"/>
            <a:ext cx="10668000" cy="612267"/>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Contributions arrive at year-end only if the customer remains active through that year. No immediate (t = 0) contribution enters the valuation.</a:t>
            </a:r>
          </a:p>
        </p:txBody>
      </p:sp>
      <p:sp>
        <p:nvSpPr>
          <p:cNvPr id="7" name="body-5">
            <a:extLst>
              <a:ext uri="{FF2B5EF4-FFF2-40B4-BE49-F238E27FC236}">
                <a16:creationId xmlns:a16="http://schemas.microsoft.com/office/drawing/2014/main" id="{00EAFA04-E4CC-4C23-8226-BE240AB6C165}"/>
              </a:ext>
            </a:extLst>
          </p:cNvPr>
          <p:cNvSpPr>
            <a:spLocks noGrp="1"/>
          </p:cNvSpPr>
          <p:nvPr/>
        </p:nvSpPr>
        <p:spPr>
          <a:xfrm>
            <a:off x="742950" y="4019741"/>
            <a:ext cx="10668000" cy="612267"/>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Calculate year-by-year values and manually verify two customers. Past acquisition costs are sunk and excluded. Retain negative CLV estimates.</a:t>
            </a:r>
          </a:p>
        </p:txBody>
      </p:sp>
      <p:sp>
        <p:nvSpPr>
          <p:cNvPr id="8" name="footer">
            <a:extLst>
              <a:ext uri="{FF2B5EF4-FFF2-40B4-BE49-F238E27FC236}">
                <a16:creationId xmlns:a16="http://schemas.microsoft.com/office/drawing/2014/main" id="{F7A01B12-946A-46B5-AEAC-327C414040B5}"/>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9" name="slide-number">
            <a:extLst>
              <a:ext uri="{FF2B5EF4-FFF2-40B4-BE49-F238E27FC236}">
                <a16:creationId xmlns:a16="http://schemas.microsoft.com/office/drawing/2014/main" id="{1F3DC79E-E6F8-4C76-97F5-0FDD5E077AFC}"/>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07 / 13</a:t>
            </a:r>
          </a:p>
        </p:txBody>
      </p:sp>
    </p:spTree>
    <p:extLst>
      <p:ext uri="{BB962C8B-B14F-4D97-AF65-F5344CB8AC3E}">
        <p14:creationId xmlns:p14="http://schemas.microsoft.com/office/powerpoint/2010/main" val="116526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C5E33E2-5632-4BAB-865F-5B12E0DE9F39}"/>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Task 3: Ranking &amp; Segmentation (20 points)</a:t>
            </a:r>
          </a:p>
        </p:txBody>
      </p:sp>
      <p:sp>
        <p:nvSpPr>
          <p:cNvPr id="3" name="body-1">
            <a:extLst>
              <a:ext uri="{FF2B5EF4-FFF2-40B4-BE49-F238E27FC236}">
                <a16:creationId xmlns:a16="http://schemas.microsoft.com/office/drawing/2014/main" id="{B87D31EC-CF56-4809-877A-C7BBB83B9B6D}"/>
              </a:ext>
            </a:extLst>
          </p:cNvPr>
          <p:cNvSpPr>
            <a:spLocks noGrp="1"/>
          </p:cNvSpPr>
          <p:nvPr/>
        </p:nvSpPr>
        <p:spPr>
          <a:xfrm>
            <a:off x="742950" y="1466850"/>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Rank customers with valid CLV₃ from highest to lowest. Define how you handle ties and unavailable estimates.</a:t>
            </a:r>
          </a:p>
        </p:txBody>
      </p:sp>
      <p:sp>
        <p:nvSpPr>
          <p:cNvPr id="4" name="body-2">
            <a:extLst>
              <a:ext uri="{FF2B5EF4-FFF2-40B4-BE49-F238E27FC236}">
                <a16:creationId xmlns:a16="http://schemas.microsoft.com/office/drawing/2014/main" id="{8D4306E5-BB81-4AF8-8FA7-C2CF5B826E0E}"/>
              </a:ext>
            </a:extLst>
          </p:cNvPr>
          <p:cNvSpPr>
            <a:spLocks noGrp="1"/>
          </p:cNvSpPr>
          <p:nvPr/>
        </p:nvSpPr>
        <p:spPr>
          <a:xfrm>
            <a:off x="742950" y="2298954"/>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Create at least four business segments using CLV and retention. Possible groups include High Value / Stable, High Value / At Risk, Low Positive Value and Negative Value.</a:t>
            </a:r>
          </a:p>
        </p:txBody>
      </p:sp>
      <p:sp>
        <p:nvSpPr>
          <p:cNvPr id="5" name="body-3">
            <a:extLst>
              <a:ext uri="{FF2B5EF4-FFF2-40B4-BE49-F238E27FC236}">
                <a16:creationId xmlns:a16="http://schemas.microsoft.com/office/drawing/2014/main" id="{616D3FA1-1C16-4EE5-8C74-F00818472151}"/>
              </a:ext>
            </a:extLst>
          </p:cNvPr>
          <p:cNvSpPr>
            <a:spLocks noGrp="1"/>
          </p:cNvSpPr>
          <p:nvPr/>
        </p:nvSpPr>
        <p:spPr>
          <a:xfrm>
            <a:off x="742950" y="3131058"/>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Choose and justify thresholds. Define mutually exclusive rules that assign every valid estimate to exactly one segment.</a:t>
            </a:r>
          </a:p>
        </p:txBody>
      </p:sp>
      <p:sp>
        <p:nvSpPr>
          <p:cNvPr id="6" name="body-4">
            <a:extLst>
              <a:ext uri="{FF2B5EF4-FFF2-40B4-BE49-F238E27FC236}">
                <a16:creationId xmlns:a16="http://schemas.microsoft.com/office/drawing/2014/main" id="{5A5B7535-3FBD-4B81-B381-184832799412}"/>
              </a:ext>
            </a:extLst>
          </p:cNvPr>
          <p:cNvSpPr>
            <a:spLocks noGrp="1"/>
          </p:cNvSpPr>
          <p:nvPr/>
        </p:nvSpPr>
        <p:spPr>
          <a:xfrm>
            <a:off x="742950" y="3963162"/>
            <a:ext cx="10668000" cy="387477"/>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Handle zero CLV explicitly and use a separate Unscored group for unavailable estimates.</a:t>
            </a:r>
          </a:p>
        </p:txBody>
      </p:sp>
      <p:sp>
        <p:nvSpPr>
          <p:cNvPr id="7" name="body-5">
            <a:extLst>
              <a:ext uri="{FF2B5EF4-FFF2-40B4-BE49-F238E27FC236}">
                <a16:creationId xmlns:a16="http://schemas.microsoft.com/office/drawing/2014/main" id="{1F9526E4-9B83-474D-BCF3-0C4A982CFB42}"/>
              </a:ext>
            </a:extLst>
          </p:cNvPr>
          <p:cNvSpPr>
            <a:spLocks noGrp="1"/>
          </p:cNvSpPr>
          <p:nvPr/>
        </p:nvSpPr>
        <p:spPr>
          <a:xfrm>
            <a:off x="742950" y="4503039"/>
            <a:ext cx="10668000" cy="679704"/>
          </a:xfrm>
          <a:prstGeom prst="rect">
            <a:avLst/>
          </a:prstGeom>
          <a:noFill/>
          <a:ln w="0">
            <a:noFill/>
          </a:ln>
        </p:spPr>
        <p:txBody>
          <a:bodyPr wrap="square" lIns="0" tIns="0" rIns="0" bIns="0" anchor="t">
            <a:noAutofit/>
          </a:bodyPr>
          <a:lstStyle>
            <a:defPPr>
              <a:defRPr sz="1950" b="0">
                <a:solidFill>
                  <a:srgbClr val="222222"/>
                </a:solidFill>
                <a:latin typeface="Arial"/>
                <a:ea typeface="Arial"/>
                <a:cs typeface="Arial"/>
              </a:defRPr>
            </a:defPPr>
            <a:lvl1pPr>
              <a:defRPr sz="1950" b="0">
                <a:solidFill>
                  <a:srgbClr val="222222"/>
                </a:solidFill>
                <a:latin typeface="Arial"/>
                <a:ea typeface="Arial"/>
                <a:cs typeface="Arial"/>
              </a:defRPr>
            </a:lvl1pPr>
            <a:lvl2pPr>
              <a:defRPr sz="1950" b="0">
                <a:solidFill>
                  <a:srgbClr val="222222"/>
                </a:solidFill>
                <a:latin typeface="Arial"/>
                <a:ea typeface="Arial"/>
                <a:cs typeface="Arial"/>
              </a:defRPr>
            </a:lvl2pPr>
            <a:lvl3pPr>
              <a:defRPr sz="1950" b="0">
                <a:solidFill>
                  <a:srgbClr val="222222"/>
                </a:solidFill>
                <a:latin typeface="Arial"/>
                <a:ea typeface="Arial"/>
                <a:cs typeface="Arial"/>
              </a:defRPr>
            </a:lvl3pPr>
            <a:lvl4pPr>
              <a:defRPr sz="1950" b="0">
                <a:solidFill>
                  <a:srgbClr val="222222"/>
                </a:solidFill>
                <a:latin typeface="Arial"/>
                <a:ea typeface="Arial"/>
                <a:cs typeface="Arial"/>
              </a:defRPr>
            </a:lvl4pPr>
            <a:lvl5pPr>
              <a:defRPr sz="1950" b="0">
                <a:solidFill>
                  <a:srgbClr val="222222"/>
                </a:solidFill>
                <a:latin typeface="Arial"/>
                <a:ea typeface="Arial"/>
                <a:cs typeface="Arial"/>
              </a:defRPr>
            </a:lvl5pPr>
            <a:lvl6pPr>
              <a:defRPr sz="1950" b="0">
                <a:solidFill>
                  <a:srgbClr val="222222"/>
                </a:solidFill>
                <a:latin typeface="Arial"/>
                <a:ea typeface="Arial"/>
                <a:cs typeface="Arial"/>
              </a:defRPr>
            </a:lvl6pPr>
            <a:lvl7pPr>
              <a:defRPr sz="1950" b="0">
                <a:solidFill>
                  <a:srgbClr val="222222"/>
                </a:solidFill>
                <a:latin typeface="Arial"/>
                <a:ea typeface="Arial"/>
                <a:cs typeface="Arial"/>
              </a:defRPr>
            </a:lvl7pPr>
            <a:lvl8pPr>
              <a:defRPr sz="1950" b="0">
                <a:solidFill>
                  <a:srgbClr val="222222"/>
                </a:solidFill>
                <a:latin typeface="Arial"/>
                <a:ea typeface="Arial"/>
                <a:cs typeface="Arial"/>
              </a:defRPr>
            </a:lvl8pPr>
            <a:lvl9pPr>
              <a:defRPr sz="1950" b="0">
                <a:solidFill>
                  <a:srgbClr val="222222"/>
                </a:solidFill>
                <a:latin typeface="Arial"/>
                <a:ea typeface="Arial"/>
                <a:cs typeface="Arial"/>
              </a:defRPr>
            </a:lvl9pPr>
          </a:lstStyle>
          <a:p>
            <a:pPr>
              <a:lnSpc>
                <a:spcPct val="112000"/>
              </a:lnSpc>
              <a:buNone/>
              <a:defRPr sz="1950" b="0">
                <a:solidFill>
                  <a:srgbClr val="222222"/>
                </a:solidFill>
                <a:latin typeface="Arial"/>
                <a:ea typeface="Arial"/>
                <a:cs typeface="Arial"/>
              </a:defRPr>
            </a:pPr>
            <a:r>
              <a:rPr sz="1950" b="0">
                <a:solidFill>
                  <a:srgbClr val="222222"/>
                </a:solidFill>
                <a:latin typeface="Arial"/>
                <a:ea typeface="Arial"/>
                <a:cs typeface="Arial"/>
              </a:rPr>
              <a:t>Report segment counts, total CLV and median CLV. Explain what each segment suggests for customer management.</a:t>
            </a:r>
          </a:p>
        </p:txBody>
      </p:sp>
      <p:sp>
        <p:nvSpPr>
          <p:cNvPr id="8" name="footer">
            <a:extLst>
              <a:ext uri="{FF2B5EF4-FFF2-40B4-BE49-F238E27FC236}">
                <a16:creationId xmlns:a16="http://schemas.microsoft.com/office/drawing/2014/main" id="{2E136BB2-F330-485B-B072-063682837153}"/>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9" name="slide-number">
            <a:extLst>
              <a:ext uri="{FF2B5EF4-FFF2-40B4-BE49-F238E27FC236}">
                <a16:creationId xmlns:a16="http://schemas.microsoft.com/office/drawing/2014/main" id="{D7AD08F4-E802-49F7-99AB-31DA6BEF48FC}"/>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08 / 13</a:t>
            </a:r>
          </a:p>
        </p:txBody>
      </p:sp>
    </p:spTree>
    <p:extLst>
      <p:ext uri="{BB962C8B-B14F-4D97-AF65-F5344CB8AC3E}">
        <p14:creationId xmlns:p14="http://schemas.microsoft.com/office/powerpoint/2010/main" val="1068967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1B3F09D-4313-4974-B9B8-6F15C31537D9}"/>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Task 4: Insights &amp; Campaign (20 points)</a:t>
            </a:r>
          </a:p>
        </p:txBody>
      </p:sp>
      <p:sp>
        <p:nvSpPr>
          <p:cNvPr id="3" name="body-1">
            <a:extLst>
              <a:ext uri="{FF2B5EF4-FFF2-40B4-BE49-F238E27FC236}">
                <a16:creationId xmlns:a16="http://schemas.microsoft.com/office/drawing/2014/main" id="{F0CB9AD5-B171-4580-9A12-5BA34EA35942}"/>
              </a:ext>
            </a:extLst>
          </p:cNvPr>
          <p:cNvSpPr>
            <a:spLocks noGrp="1"/>
          </p:cNvSpPr>
          <p:nvPr/>
        </p:nvSpPr>
        <p:spPr>
          <a:xfrm>
            <a:off x="742950" y="1466850"/>
            <a:ext cx="10668000" cy="342519"/>
          </a:xfrm>
          <a:prstGeom prst="rect">
            <a:avLst/>
          </a:prstGeom>
          <a:noFill/>
          <a:ln w="0">
            <a:noFill/>
          </a:ln>
        </p:spPr>
        <p:txBody>
          <a:bodyPr wrap="square" lIns="0" tIns="0" rIns="0" bIns="0" anchor="t">
            <a:noAutofit/>
          </a:bodyPr>
          <a:lstStyle>
            <a:defPPr>
              <a:defRPr sz="1650" b="0">
                <a:solidFill>
                  <a:srgbClr val="222222"/>
                </a:solidFill>
                <a:latin typeface="Arial"/>
                <a:ea typeface="Arial"/>
                <a:cs typeface="Arial"/>
              </a:defRPr>
            </a:defPPr>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a:lnSpc>
                <a:spcPct val="112000"/>
              </a:lnSpc>
              <a:buNone/>
              <a:defRPr sz="1650" b="0">
                <a:solidFill>
                  <a:srgbClr val="222222"/>
                </a:solidFill>
                <a:latin typeface="Arial"/>
                <a:ea typeface="Arial"/>
                <a:cs typeface="Arial"/>
              </a:defRPr>
            </a:pPr>
            <a:r>
              <a:rPr sz="1650" b="0">
                <a:solidFill>
                  <a:srgbClr val="222222"/>
                </a:solidFill>
                <a:latin typeface="Arial"/>
                <a:ea typeface="Arial"/>
                <a:cs typeface="Arial"/>
              </a:rPr>
              <a:t>Create at least three charts: the CLV distribution, segment composition, and annual contribution versus retention.</a:t>
            </a:r>
          </a:p>
        </p:txBody>
      </p:sp>
      <p:sp>
        <p:nvSpPr>
          <p:cNvPr id="4" name="body-2">
            <a:extLst>
              <a:ext uri="{FF2B5EF4-FFF2-40B4-BE49-F238E27FC236}">
                <a16:creationId xmlns:a16="http://schemas.microsoft.com/office/drawing/2014/main" id="{652D09BF-751E-41C8-9E54-98E17B12A6F5}"/>
              </a:ext>
            </a:extLst>
          </p:cNvPr>
          <p:cNvSpPr>
            <a:spLocks noGrp="1"/>
          </p:cNvSpPr>
          <p:nvPr/>
        </p:nvSpPr>
        <p:spPr>
          <a:xfrm>
            <a:off x="742950" y="1961769"/>
            <a:ext cx="10668000" cy="589788"/>
          </a:xfrm>
          <a:prstGeom prst="rect">
            <a:avLst/>
          </a:prstGeom>
          <a:noFill/>
          <a:ln w="0">
            <a:noFill/>
          </a:ln>
        </p:spPr>
        <p:txBody>
          <a:bodyPr wrap="square" lIns="0" tIns="0" rIns="0" bIns="0" anchor="t">
            <a:noAutofit/>
          </a:bodyPr>
          <a:lstStyle>
            <a:defPPr>
              <a:defRPr sz="1650" b="0">
                <a:solidFill>
                  <a:srgbClr val="222222"/>
                </a:solidFill>
                <a:latin typeface="Arial"/>
                <a:ea typeface="Arial"/>
                <a:cs typeface="Arial"/>
              </a:defRPr>
            </a:defPPr>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a:lnSpc>
                <a:spcPct val="112000"/>
              </a:lnSpc>
              <a:buNone/>
              <a:defRPr sz="1650" b="0">
                <a:solidFill>
                  <a:srgbClr val="222222"/>
                </a:solidFill>
                <a:latin typeface="Arial"/>
                <a:ea typeface="Arial"/>
                <a:cs typeface="Arial"/>
              </a:defRPr>
            </a:pPr>
            <a:r>
              <a:rPr sz="1650" b="0">
                <a:solidFill>
                  <a:srgbClr val="222222"/>
                </a:solidFill>
                <a:latin typeface="Arial"/>
                <a:ea typeface="Arial"/>
                <a:cs typeface="Arial"/>
              </a:rPr>
              <a:t>Campaign assumption: r′ = min(1, r + 0.03). The offer increases conditional retention by 3 percentage points in each forecast year, at unchanged m.</a:t>
            </a:r>
          </a:p>
        </p:txBody>
      </p:sp>
      <p:sp>
        <p:nvSpPr>
          <p:cNvPr id="5" name="body-3">
            <a:extLst>
              <a:ext uri="{FF2B5EF4-FFF2-40B4-BE49-F238E27FC236}">
                <a16:creationId xmlns:a16="http://schemas.microsoft.com/office/drawing/2014/main" id="{64EEDEF3-EF39-4608-9315-C71F9B1A84C3}"/>
              </a:ext>
            </a:extLst>
          </p:cNvPr>
          <p:cNvSpPr>
            <a:spLocks noGrp="1"/>
          </p:cNvSpPr>
          <p:nvPr/>
        </p:nvSpPr>
        <p:spPr>
          <a:xfrm>
            <a:off x="742950" y="2703957"/>
            <a:ext cx="10668000" cy="589788"/>
          </a:xfrm>
          <a:prstGeom prst="rect">
            <a:avLst/>
          </a:prstGeom>
          <a:noFill/>
          <a:ln w="0">
            <a:noFill/>
          </a:ln>
        </p:spPr>
        <p:txBody>
          <a:bodyPr wrap="square" lIns="0" tIns="0" rIns="0" bIns="0" anchor="t">
            <a:noAutofit/>
          </a:bodyPr>
          <a:lstStyle>
            <a:defPPr>
              <a:defRPr sz="1650" b="0">
                <a:solidFill>
                  <a:srgbClr val="222222"/>
                </a:solidFill>
                <a:latin typeface="Arial"/>
                <a:ea typeface="Arial"/>
                <a:cs typeface="Arial"/>
              </a:defRPr>
            </a:defPPr>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a:lnSpc>
                <a:spcPct val="112000"/>
              </a:lnSpc>
              <a:buNone/>
              <a:defRPr sz="1650" b="0">
                <a:solidFill>
                  <a:srgbClr val="222222"/>
                </a:solidFill>
                <a:latin typeface="Arial"/>
                <a:ea typeface="Arial"/>
                <a:cs typeface="Arial"/>
              </a:defRPr>
            </a:pPr>
            <a:r>
              <a:rPr sz="1650" b="0">
                <a:solidFill>
                  <a:srgbClr val="222222"/>
                </a:solidFill>
                <a:latin typeface="Arial"/>
                <a:ea typeface="Arial"/>
                <a:cs typeface="Arial"/>
              </a:rPr>
              <a:t>Cost: VND 100,000 per targeted customer, paid now. Budget: VND 10,000,000. Each customer can receive at most one offer.</a:t>
            </a:r>
          </a:p>
        </p:txBody>
      </p:sp>
      <p:sp>
        <p:nvSpPr>
          <p:cNvPr id="6" name="body-4">
            <a:extLst>
              <a:ext uri="{FF2B5EF4-FFF2-40B4-BE49-F238E27FC236}">
                <a16:creationId xmlns:a16="http://schemas.microsoft.com/office/drawing/2014/main" id="{D59D09A2-3DB9-4F98-A547-86ABB092EAF0}"/>
              </a:ext>
            </a:extLst>
          </p:cNvPr>
          <p:cNvSpPr>
            <a:spLocks noGrp="1"/>
          </p:cNvSpPr>
          <p:nvPr/>
        </p:nvSpPr>
        <p:spPr>
          <a:xfrm>
            <a:off x="742950" y="3446145"/>
            <a:ext cx="10668000" cy="353759"/>
          </a:xfrm>
          <a:prstGeom prst="rect">
            <a:avLst/>
          </a:prstGeom>
          <a:noFill/>
          <a:ln w="0">
            <a:noFill/>
          </a:ln>
        </p:spPr>
        <p:txBody>
          <a:bodyPr wrap="square" lIns="0" tIns="0" rIns="0" bIns="0" anchor="t">
            <a:noAutofit/>
          </a:bodyPr>
          <a:lstStyle>
            <a:defPPr>
              <a:defRPr sz="1725" b="1">
                <a:solidFill>
                  <a:srgbClr val="132D46"/>
                </a:solidFill>
                <a:latin typeface="Arial"/>
                <a:ea typeface="Arial"/>
                <a:cs typeface="Arial"/>
              </a:defRPr>
            </a:defPPr>
            <a:lvl1pPr>
              <a:defRPr sz="1725" b="1">
                <a:solidFill>
                  <a:srgbClr val="132D46"/>
                </a:solidFill>
                <a:latin typeface="Arial"/>
                <a:ea typeface="Arial"/>
                <a:cs typeface="Arial"/>
              </a:defRPr>
            </a:lvl1pPr>
            <a:lvl2pPr>
              <a:defRPr sz="1725" b="1">
                <a:solidFill>
                  <a:srgbClr val="132D46"/>
                </a:solidFill>
                <a:latin typeface="Arial"/>
                <a:ea typeface="Arial"/>
                <a:cs typeface="Arial"/>
              </a:defRPr>
            </a:lvl2pPr>
            <a:lvl3pPr>
              <a:defRPr sz="1725" b="1">
                <a:solidFill>
                  <a:srgbClr val="132D46"/>
                </a:solidFill>
                <a:latin typeface="Arial"/>
                <a:ea typeface="Arial"/>
                <a:cs typeface="Arial"/>
              </a:defRPr>
            </a:lvl3pPr>
            <a:lvl4pPr>
              <a:defRPr sz="1725" b="1">
                <a:solidFill>
                  <a:srgbClr val="132D46"/>
                </a:solidFill>
                <a:latin typeface="Arial"/>
                <a:ea typeface="Arial"/>
                <a:cs typeface="Arial"/>
              </a:defRPr>
            </a:lvl4pPr>
            <a:lvl5pPr>
              <a:defRPr sz="1725" b="1">
                <a:solidFill>
                  <a:srgbClr val="132D46"/>
                </a:solidFill>
                <a:latin typeface="Arial"/>
                <a:ea typeface="Arial"/>
                <a:cs typeface="Arial"/>
              </a:defRPr>
            </a:lvl5pPr>
            <a:lvl6pPr>
              <a:defRPr sz="1725" b="1">
                <a:solidFill>
                  <a:srgbClr val="132D46"/>
                </a:solidFill>
                <a:latin typeface="Arial"/>
                <a:ea typeface="Arial"/>
                <a:cs typeface="Arial"/>
              </a:defRPr>
            </a:lvl6pPr>
            <a:lvl7pPr>
              <a:defRPr sz="1725" b="1">
                <a:solidFill>
                  <a:srgbClr val="132D46"/>
                </a:solidFill>
                <a:latin typeface="Arial"/>
                <a:ea typeface="Arial"/>
                <a:cs typeface="Arial"/>
              </a:defRPr>
            </a:lvl7pPr>
            <a:lvl8pPr>
              <a:defRPr sz="1725" b="1">
                <a:solidFill>
                  <a:srgbClr val="132D46"/>
                </a:solidFill>
                <a:latin typeface="Arial"/>
                <a:ea typeface="Arial"/>
                <a:cs typeface="Arial"/>
              </a:defRPr>
            </a:lvl8pPr>
            <a:lvl9pPr>
              <a:defRPr sz="1725" b="1">
                <a:solidFill>
                  <a:srgbClr val="132D46"/>
                </a:solidFill>
                <a:latin typeface="Arial"/>
                <a:ea typeface="Arial"/>
                <a:cs typeface="Arial"/>
              </a:defRPr>
            </a:lvl9pPr>
          </a:lstStyle>
          <a:p>
            <a:pPr>
              <a:lnSpc>
                <a:spcPct val="112000"/>
              </a:lnSpc>
              <a:buNone/>
              <a:defRPr sz="1725" b="1">
                <a:solidFill>
                  <a:srgbClr val="132D46"/>
                </a:solidFill>
                <a:latin typeface="Arial"/>
                <a:ea typeface="Arial"/>
                <a:cs typeface="Arial"/>
              </a:defRPr>
            </a:pPr>
            <a:r>
              <a:rPr sz="1725" b="1">
                <a:solidFill>
                  <a:srgbClr val="132D46"/>
                </a:solidFill>
                <a:latin typeface="Arial"/>
                <a:ea typeface="Arial"/>
                <a:cs typeface="Arial"/>
              </a:rPr>
              <a:t>Incremental value = CLV₃(r′) − CLV₃(r) − 100,000</a:t>
            </a:r>
          </a:p>
        </p:txBody>
      </p:sp>
      <p:sp>
        <p:nvSpPr>
          <p:cNvPr id="7" name="body-5">
            <a:extLst>
              <a:ext uri="{FF2B5EF4-FFF2-40B4-BE49-F238E27FC236}">
                <a16:creationId xmlns:a16="http://schemas.microsoft.com/office/drawing/2014/main" id="{610AA6F3-13EC-4313-B4B5-0FA3C11EF95D}"/>
              </a:ext>
            </a:extLst>
          </p:cNvPr>
          <p:cNvSpPr>
            <a:spLocks noGrp="1"/>
          </p:cNvSpPr>
          <p:nvPr/>
        </p:nvSpPr>
        <p:spPr>
          <a:xfrm>
            <a:off x="742950" y="3952303"/>
            <a:ext cx="10668000" cy="589788"/>
          </a:xfrm>
          <a:prstGeom prst="rect">
            <a:avLst/>
          </a:prstGeom>
          <a:noFill/>
          <a:ln w="0">
            <a:noFill/>
          </a:ln>
        </p:spPr>
        <p:txBody>
          <a:bodyPr wrap="square" lIns="0" tIns="0" rIns="0" bIns="0" anchor="t">
            <a:noAutofit/>
          </a:bodyPr>
          <a:lstStyle>
            <a:defPPr>
              <a:defRPr sz="1650" b="0">
                <a:solidFill>
                  <a:srgbClr val="222222"/>
                </a:solidFill>
                <a:latin typeface="Arial"/>
                <a:ea typeface="Arial"/>
                <a:cs typeface="Arial"/>
              </a:defRPr>
            </a:defPPr>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a:lnSpc>
                <a:spcPct val="112000"/>
              </a:lnSpc>
              <a:buNone/>
              <a:defRPr sz="1650" b="0">
                <a:solidFill>
                  <a:srgbClr val="222222"/>
                </a:solidFill>
                <a:latin typeface="Arial"/>
                <a:ea typeface="Arial"/>
                <a:cs typeface="Arial"/>
              </a:defRPr>
            </a:pPr>
            <a:r>
              <a:rPr sz="1650" b="0">
                <a:solidFill>
                  <a:srgbClr val="222222"/>
                </a:solidFill>
                <a:latin typeface="Arial"/>
                <a:ea typeface="Arial"/>
                <a:cs typeface="Arial"/>
              </a:rPr>
              <a:t>Select up to 100 customers with positive incremental value, prioritizing the largest gains. You may leave budget unspent. Report the top 10 and the full selection, cost and total net gain.</a:t>
            </a:r>
          </a:p>
        </p:txBody>
      </p:sp>
      <p:sp>
        <p:nvSpPr>
          <p:cNvPr id="8" name="body-6">
            <a:extLst>
              <a:ext uri="{FF2B5EF4-FFF2-40B4-BE49-F238E27FC236}">
                <a16:creationId xmlns:a16="http://schemas.microsoft.com/office/drawing/2014/main" id="{72997C65-CE44-4319-BAFD-93387F4E3083}"/>
              </a:ext>
            </a:extLst>
          </p:cNvPr>
          <p:cNvSpPr>
            <a:spLocks noGrp="1"/>
          </p:cNvSpPr>
          <p:nvPr/>
        </p:nvSpPr>
        <p:spPr>
          <a:xfrm>
            <a:off x="742950" y="4694491"/>
            <a:ext cx="10668000" cy="342519"/>
          </a:xfrm>
          <a:prstGeom prst="rect">
            <a:avLst/>
          </a:prstGeom>
          <a:noFill/>
          <a:ln w="0">
            <a:noFill/>
          </a:ln>
        </p:spPr>
        <p:txBody>
          <a:bodyPr wrap="square" lIns="0" tIns="0" rIns="0" bIns="0" anchor="t">
            <a:noAutofit/>
          </a:bodyPr>
          <a:lstStyle>
            <a:defPPr>
              <a:defRPr sz="1650" b="0">
                <a:solidFill>
                  <a:srgbClr val="222222"/>
                </a:solidFill>
                <a:latin typeface="Arial"/>
                <a:ea typeface="Arial"/>
                <a:cs typeface="Arial"/>
              </a:defRPr>
            </a:defPPr>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a:lnSpc>
                <a:spcPct val="112000"/>
              </a:lnSpc>
              <a:buNone/>
              <a:defRPr sz="1650" b="0">
                <a:solidFill>
                  <a:srgbClr val="222222"/>
                </a:solidFill>
                <a:latin typeface="Arial"/>
                <a:ea typeface="Arial"/>
                <a:cs typeface="Arial"/>
              </a:defRPr>
            </a:pPr>
            <a:r>
              <a:rPr sz="1650" b="0">
                <a:solidFill>
                  <a:srgbClr val="222222"/>
                </a:solidFill>
                <a:latin typeface="Arial"/>
                <a:ea typeface="Arial"/>
                <a:cs typeface="Arial"/>
              </a:rPr>
              <a:t>Explain why this selection may differ from the highest-CLV ranking. Propose a measurable campaign KPI.</a:t>
            </a:r>
          </a:p>
        </p:txBody>
      </p:sp>
      <p:sp>
        <p:nvSpPr>
          <p:cNvPr id="9" name="footer">
            <a:extLst>
              <a:ext uri="{FF2B5EF4-FFF2-40B4-BE49-F238E27FC236}">
                <a16:creationId xmlns:a16="http://schemas.microsoft.com/office/drawing/2014/main" id="{A193A5CE-1491-485F-B8F0-16F01E39B131}"/>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10" name="slide-number">
            <a:extLst>
              <a:ext uri="{FF2B5EF4-FFF2-40B4-BE49-F238E27FC236}">
                <a16:creationId xmlns:a16="http://schemas.microsoft.com/office/drawing/2014/main" id="{1CDF913A-AB76-448C-A729-8BB7C9748AB2}"/>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09 / 13</a:t>
            </a:r>
          </a:p>
        </p:txBody>
      </p:sp>
    </p:spTree>
    <p:extLst>
      <p:ext uri="{BB962C8B-B14F-4D97-AF65-F5344CB8AC3E}">
        <p14:creationId xmlns:p14="http://schemas.microsoft.com/office/powerpoint/2010/main" val="179622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D118C8-206A-456A-A8B3-67F92D666E7D}"/>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Task 5: Critical Thinking (15 points)</a:t>
            </a:r>
          </a:p>
        </p:txBody>
      </p:sp>
      <p:sp>
        <p:nvSpPr>
          <p:cNvPr id="3" name="body-1">
            <a:extLst>
              <a:ext uri="{FF2B5EF4-FFF2-40B4-BE49-F238E27FC236}">
                <a16:creationId xmlns:a16="http://schemas.microsoft.com/office/drawing/2014/main" id="{497D15A6-5755-495B-891E-6812ECFC13E9}"/>
              </a:ext>
            </a:extLst>
          </p:cNvPr>
          <p:cNvSpPr>
            <a:spLocks noGrp="1"/>
          </p:cNvSpPr>
          <p:nvPr/>
        </p:nvSpPr>
        <p:spPr>
          <a:xfrm>
            <a:off x="742950" y="1466850"/>
            <a:ext cx="10668000" cy="634746"/>
          </a:xfrm>
          <a:prstGeom prst="rect">
            <a:avLst/>
          </a:prstGeom>
          <a:noFill/>
          <a:ln w="0">
            <a:noFill/>
          </a:ln>
        </p:spPr>
        <p:txBody>
          <a:bodyPr wrap="square" lIns="0" tIns="0" rIns="0" bIns="0" anchor="t">
            <a:noAutofit/>
          </a:bodyPr>
          <a:lstStyle>
            <a:defPPr>
              <a:defRPr sz="1800" b="0">
                <a:solidFill>
                  <a:srgbClr val="222222"/>
                </a:solidFill>
                <a:latin typeface="Arial"/>
                <a:ea typeface="Arial"/>
                <a:cs typeface="Arial"/>
              </a:defRPr>
            </a:defPPr>
            <a:lvl1pPr>
              <a:defRPr sz="1800" b="0">
                <a:solidFill>
                  <a:srgbClr val="222222"/>
                </a:solidFill>
                <a:latin typeface="Arial"/>
                <a:ea typeface="Arial"/>
                <a:cs typeface="Arial"/>
              </a:defRPr>
            </a:lvl1pPr>
            <a:lvl2pPr>
              <a:defRPr sz="1800" b="0">
                <a:solidFill>
                  <a:srgbClr val="222222"/>
                </a:solidFill>
                <a:latin typeface="Arial"/>
                <a:ea typeface="Arial"/>
                <a:cs typeface="Arial"/>
              </a:defRPr>
            </a:lvl2pPr>
            <a:lvl3pPr>
              <a:defRPr sz="1800" b="0">
                <a:solidFill>
                  <a:srgbClr val="222222"/>
                </a:solidFill>
                <a:latin typeface="Arial"/>
                <a:ea typeface="Arial"/>
                <a:cs typeface="Arial"/>
              </a:defRPr>
            </a:lvl3pPr>
            <a:lvl4pPr>
              <a:defRPr sz="1800" b="0">
                <a:solidFill>
                  <a:srgbClr val="222222"/>
                </a:solidFill>
                <a:latin typeface="Arial"/>
                <a:ea typeface="Arial"/>
                <a:cs typeface="Arial"/>
              </a:defRPr>
            </a:lvl4pPr>
            <a:lvl5pPr>
              <a:defRPr sz="1800" b="0">
                <a:solidFill>
                  <a:srgbClr val="222222"/>
                </a:solidFill>
                <a:latin typeface="Arial"/>
                <a:ea typeface="Arial"/>
                <a:cs typeface="Arial"/>
              </a:defRPr>
            </a:lvl5pPr>
            <a:lvl6pPr>
              <a:defRPr sz="1800" b="0">
                <a:solidFill>
                  <a:srgbClr val="222222"/>
                </a:solidFill>
                <a:latin typeface="Arial"/>
                <a:ea typeface="Arial"/>
                <a:cs typeface="Arial"/>
              </a:defRPr>
            </a:lvl6pPr>
            <a:lvl7pPr>
              <a:defRPr sz="1800" b="0">
                <a:solidFill>
                  <a:srgbClr val="222222"/>
                </a:solidFill>
                <a:latin typeface="Arial"/>
                <a:ea typeface="Arial"/>
                <a:cs typeface="Arial"/>
              </a:defRPr>
            </a:lvl7pPr>
            <a:lvl8pPr>
              <a:defRPr sz="1800" b="0">
                <a:solidFill>
                  <a:srgbClr val="222222"/>
                </a:solidFill>
                <a:latin typeface="Arial"/>
                <a:ea typeface="Arial"/>
                <a:cs typeface="Arial"/>
              </a:defRPr>
            </a:lvl8pPr>
            <a:lvl9pPr>
              <a:defRPr sz="1800" b="0">
                <a:solidFill>
                  <a:srgbClr val="222222"/>
                </a:solidFill>
                <a:latin typeface="Arial"/>
                <a:ea typeface="Arial"/>
                <a:cs typeface="Arial"/>
              </a:defRPr>
            </a:lvl9pPr>
          </a:lstStyle>
          <a:p>
            <a:pPr>
              <a:lnSpc>
                <a:spcPct val="112000"/>
              </a:lnSpc>
              <a:buNone/>
              <a:defRPr sz="1800" b="0">
                <a:solidFill>
                  <a:srgbClr val="222222"/>
                </a:solidFill>
                <a:latin typeface="Arial"/>
                <a:ea typeface="Arial"/>
                <a:cs typeface="Arial"/>
              </a:defRPr>
            </a:pPr>
            <a:r>
              <a:rPr sz="1800" b="0">
                <a:solidFill>
                  <a:srgbClr val="222222"/>
                </a:solidFill>
                <a:latin typeface="Arial"/>
                <a:ea typeface="Arial"/>
                <a:cs typeface="Arial"/>
              </a:rPr>
              <a:t>Run a 3 × 3 sensitivity grid: d = 5%, 10%, 15% and retention shifts of −5, 0, +5 percentage points. Clamp shifted r to [0, 1].</a:t>
            </a:r>
          </a:p>
        </p:txBody>
      </p:sp>
      <p:sp>
        <p:nvSpPr>
          <p:cNvPr id="4" name="body-2">
            <a:extLst>
              <a:ext uri="{FF2B5EF4-FFF2-40B4-BE49-F238E27FC236}">
                <a16:creationId xmlns:a16="http://schemas.microsoft.com/office/drawing/2014/main" id="{769AE33E-9AB7-4A6B-83FD-7F5A72A23573}"/>
              </a:ext>
            </a:extLst>
          </p:cNvPr>
          <p:cNvSpPr>
            <a:spLocks noGrp="1"/>
          </p:cNvSpPr>
          <p:nvPr/>
        </p:nvSpPr>
        <p:spPr>
          <a:xfrm>
            <a:off x="742950" y="2253996"/>
            <a:ext cx="10668000" cy="634746"/>
          </a:xfrm>
          <a:prstGeom prst="rect">
            <a:avLst/>
          </a:prstGeom>
          <a:noFill/>
          <a:ln w="0">
            <a:noFill/>
          </a:ln>
        </p:spPr>
        <p:txBody>
          <a:bodyPr wrap="square" lIns="0" tIns="0" rIns="0" bIns="0" anchor="t">
            <a:noAutofit/>
          </a:bodyPr>
          <a:lstStyle>
            <a:defPPr>
              <a:defRPr sz="1800" b="0">
                <a:solidFill>
                  <a:srgbClr val="222222"/>
                </a:solidFill>
                <a:latin typeface="Arial"/>
                <a:ea typeface="Arial"/>
                <a:cs typeface="Arial"/>
              </a:defRPr>
            </a:defPPr>
            <a:lvl1pPr>
              <a:defRPr sz="1800" b="0">
                <a:solidFill>
                  <a:srgbClr val="222222"/>
                </a:solidFill>
                <a:latin typeface="Arial"/>
                <a:ea typeface="Arial"/>
                <a:cs typeface="Arial"/>
              </a:defRPr>
            </a:lvl1pPr>
            <a:lvl2pPr>
              <a:defRPr sz="1800" b="0">
                <a:solidFill>
                  <a:srgbClr val="222222"/>
                </a:solidFill>
                <a:latin typeface="Arial"/>
                <a:ea typeface="Arial"/>
                <a:cs typeface="Arial"/>
              </a:defRPr>
            </a:lvl2pPr>
            <a:lvl3pPr>
              <a:defRPr sz="1800" b="0">
                <a:solidFill>
                  <a:srgbClr val="222222"/>
                </a:solidFill>
                <a:latin typeface="Arial"/>
                <a:ea typeface="Arial"/>
                <a:cs typeface="Arial"/>
              </a:defRPr>
            </a:lvl3pPr>
            <a:lvl4pPr>
              <a:defRPr sz="1800" b="0">
                <a:solidFill>
                  <a:srgbClr val="222222"/>
                </a:solidFill>
                <a:latin typeface="Arial"/>
                <a:ea typeface="Arial"/>
                <a:cs typeface="Arial"/>
              </a:defRPr>
            </a:lvl4pPr>
            <a:lvl5pPr>
              <a:defRPr sz="1800" b="0">
                <a:solidFill>
                  <a:srgbClr val="222222"/>
                </a:solidFill>
                <a:latin typeface="Arial"/>
                <a:ea typeface="Arial"/>
                <a:cs typeface="Arial"/>
              </a:defRPr>
            </a:lvl5pPr>
            <a:lvl6pPr>
              <a:defRPr sz="1800" b="0">
                <a:solidFill>
                  <a:srgbClr val="222222"/>
                </a:solidFill>
                <a:latin typeface="Arial"/>
                <a:ea typeface="Arial"/>
                <a:cs typeface="Arial"/>
              </a:defRPr>
            </a:lvl6pPr>
            <a:lvl7pPr>
              <a:defRPr sz="1800" b="0">
                <a:solidFill>
                  <a:srgbClr val="222222"/>
                </a:solidFill>
                <a:latin typeface="Arial"/>
                <a:ea typeface="Arial"/>
                <a:cs typeface="Arial"/>
              </a:defRPr>
            </a:lvl7pPr>
            <a:lvl8pPr>
              <a:defRPr sz="1800" b="0">
                <a:solidFill>
                  <a:srgbClr val="222222"/>
                </a:solidFill>
                <a:latin typeface="Arial"/>
                <a:ea typeface="Arial"/>
                <a:cs typeface="Arial"/>
              </a:defRPr>
            </a:lvl8pPr>
            <a:lvl9pPr>
              <a:defRPr sz="1800" b="0">
                <a:solidFill>
                  <a:srgbClr val="222222"/>
                </a:solidFill>
                <a:latin typeface="Arial"/>
                <a:ea typeface="Arial"/>
                <a:cs typeface="Arial"/>
              </a:defRPr>
            </a:lvl9pPr>
          </a:lstStyle>
          <a:p>
            <a:pPr>
              <a:lnSpc>
                <a:spcPct val="112000"/>
              </a:lnSpc>
              <a:buNone/>
              <a:defRPr sz="1800" b="0">
                <a:solidFill>
                  <a:srgbClr val="222222"/>
                </a:solidFill>
                <a:latin typeface="Arial"/>
                <a:ea typeface="Arial"/>
                <a:cs typeface="Arial"/>
              </a:defRPr>
            </a:pPr>
            <a:r>
              <a:rPr sz="1800" b="0">
                <a:solidFill>
                  <a:srgbClr val="222222"/>
                </a:solidFill>
                <a:latin typeface="Arial"/>
                <a:ea typeface="Arial"/>
                <a:cs typeface="Arial"/>
              </a:rPr>
              <a:t>For all nine scenarios, recalculate portfolio CLV, campaign choices and net campaign gain. Apply the +3 point campaign uplift to each scenario's shifted r, capped at 1.</a:t>
            </a:r>
          </a:p>
        </p:txBody>
      </p:sp>
      <p:sp>
        <p:nvSpPr>
          <p:cNvPr id="5" name="body-3">
            <a:extLst>
              <a:ext uri="{FF2B5EF4-FFF2-40B4-BE49-F238E27FC236}">
                <a16:creationId xmlns:a16="http://schemas.microsoft.com/office/drawing/2014/main" id="{062412B0-AC19-4768-9F70-ACBAFC84B44F}"/>
              </a:ext>
            </a:extLst>
          </p:cNvPr>
          <p:cNvSpPr>
            <a:spLocks noGrp="1"/>
          </p:cNvSpPr>
          <p:nvPr/>
        </p:nvSpPr>
        <p:spPr>
          <a:xfrm>
            <a:off x="742950" y="3041142"/>
            <a:ext cx="10668000" cy="634746"/>
          </a:xfrm>
          <a:prstGeom prst="rect">
            <a:avLst/>
          </a:prstGeom>
          <a:noFill/>
          <a:ln w="0">
            <a:noFill/>
          </a:ln>
        </p:spPr>
        <p:txBody>
          <a:bodyPr wrap="square" lIns="0" tIns="0" rIns="0" bIns="0" anchor="t">
            <a:noAutofit/>
          </a:bodyPr>
          <a:lstStyle>
            <a:defPPr>
              <a:defRPr sz="1800" b="0">
                <a:solidFill>
                  <a:srgbClr val="222222"/>
                </a:solidFill>
                <a:latin typeface="Arial"/>
                <a:ea typeface="Arial"/>
                <a:cs typeface="Arial"/>
              </a:defRPr>
            </a:defPPr>
            <a:lvl1pPr>
              <a:defRPr sz="1800" b="0">
                <a:solidFill>
                  <a:srgbClr val="222222"/>
                </a:solidFill>
                <a:latin typeface="Arial"/>
                <a:ea typeface="Arial"/>
                <a:cs typeface="Arial"/>
              </a:defRPr>
            </a:lvl1pPr>
            <a:lvl2pPr>
              <a:defRPr sz="1800" b="0">
                <a:solidFill>
                  <a:srgbClr val="222222"/>
                </a:solidFill>
                <a:latin typeface="Arial"/>
                <a:ea typeface="Arial"/>
                <a:cs typeface="Arial"/>
              </a:defRPr>
            </a:lvl2pPr>
            <a:lvl3pPr>
              <a:defRPr sz="1800" b="0">
                <a:solidFill>
                  <a:srgbClr val="222222"/>
                </a:solidFill>
                <a:latin typeface="Arial"/>
                <a:ea typeface="Arial"/>
                <a:cs typeface="Arial"/>
              </a:defRPr>
            </a:lvl3pPr>
            <a:lvl4pPr>
              <a:defRPr sz="1800" b="0">
                <a:solidFill>
                  <a:srgbClr val="222222"/>
                </a:solidFill>
                <a:latin typeface="Arial"/>
                <a:ea typeface="Arial"/>
                <a:cs typeface="Arial"/>
              </a:defRPr>
            </a:lvl4pPr>
            <a:lvl5pPr>
              <a:defRPr sz="1800" b="0">
                <a:solidFill>
                  <a:srgbClr val="222222"/>
                </a:solidFill>
                <a:latin typeface="Arial"/>
                <a:ea typeface="Arial"/>
                <a:cs typeface="Arial"/>
              </a:defRPr>
            </a:lvl5pPr>
            <a:lvl6pPr>
              <a:defRPr sz="1800" b="0">
                <a:solidFill>
                  <a:srgbClr val="222222"/>
                </a:solidFill>
                <a:latin typeface="Arial"/>
                <a:ea typeface="Arial"/>
                <a:cs typeface="Arial"/>
              </a:defRPr>
            </a:lvl6pPr>
            <a:lvl7pPr>
              <a:defRPr sz="1800" b="0">
                <a:solidFill>
                  <a:srgbClr val="222222"/>
                </a:solidFill>
                <a:latin typeface="Arial"/>
                <a:ea typeface="Arial"/>
                <a:cs typeface="Arial"/>
              </a:defRPr>
            </a:lvl7pPr>
            <a:lvl8pPr>
              <a:defRPr sz="1800" b="0">
                <a:solidFill>
                  <a:srgbClr val="222222"/>
                </a:solidFill>
                <a:latin typeface="Arial"/>
                <a:ea typeface="Arial"/>
                <a:cs typeface="Arial"/>
              </a:defRPr>
            </a:lvl8pPr>
            <a:lvl9pPr>
              <a:defRPr sz="1800" b="0">
                <a:solidFill>
                  <a:srgbClr val="222222"/>
                </a:solidFill>
                <a:latin typeface="Arial"/>
                <a:ea typeface="Arial"/>
                <a:cs typeface="Arial"/>
              </a:defRPr>
            </a:lvl9pPr>
          </a:lstStyle>
          <a:p>
            <a:pPr>
              <a:lnSpc>
                <a:spcPct val="112000"/>
              </a:lnSpc>
              <a:buNone/>
              <a:defRPr sz="1800" b="0">
                <a:solidFill>
                  <a:srgbClr val="222222"/>
                </a:solidFill>
                <a:latin typeface="Arial"/>
                <a:ea typeface="Arial"/>
                <a:cs typeface="Arial"/>
              </a:defRPr>
            </a:pPr>
            <a:r>
              <a:rPr sz="1800" b="0">
                <a:solidFill>
                  <a:srgbClr val="222222"/>
                </a:solidFill>
                <a:latin typeface="Arial"/>
                <a:ea typeface="Arial"/>
                <a:cs typeface="Arial"/>
              </a:rPr>
              <a:t>Compare the top 10 CLV customers with the base case and explain how stable the targeting recommendation is.</a:t>
            </a:r>
          </a:p>
        </p:txBody>
      </p:sp>
      <p:sp>
        <p:nvSpPr>
          <p:cNvPr id="6" name="body-4">
            <a:extLst>
              <a:ext uri="{FF2B5EF4-FFF2-40B4-BE49-F238E27FC236}">
                <a16:creationId xmlns:a16="http://schemas.microsoft.com/office/drawing/2014/main" id="{E1E476E3-4E8F-49F6-AD5E-1B75F2A48EF7}"/>
              </a:ext>
            </a:extLst>
          </p:cNvPr>
          <p:cNvSpPr>
            <a:spLocks noGrp="1"/>
          </p:cNvSpPr>
          <p:nvPr/>
        </p:nvSpPr>
        <p:spPr>
          <a:xfrm>
            <a:off x="742950" y="3828288"/>
            <a:ext cx="10668000" cy="634746"/>
          </a:xfrm>
          <a:prstGeom prst="rect">
            <a:avLst/>
          </a:prstGeom>
          <a:noFill/>
          <a:ln w="0">
            <a:noFill/>
          </a:ln>
        </p:spPr>
        <p:txBody>
          <a:bodyPr wrap="square" lIns="0" tIns="0" rIns="0" bIns="0" anchor="t">
            <a:noAutofit/>
          </a:bodyPr>
          <a:lstStyle>
            <a:defPPr>
              <a:defRPr sz="1800" b="0">
                <a:solidFill>
                  <a:srgbClr val="222222"/>
                </a:solidFill>
                <a:latin typeface="Arial"/>
                <a:ea typeface="Arial"/>
                <a:cs typeface="Arial"/>
              </a:defRPr>
            </a:defPPr>
            <a:lvl1pPr>
              <a:defRPr sz="1800" b="0">
                <a:solidFill>
                  <a:srgbClr val="222222"/>
                </a:solidFill>
                <a:latin typeface="Arial"/>
                <a:ea typeface="Arial"/>
                <a:cs typeface="Arial"/>
              </a:defRPr>
            </a:lvl1pPr>
            <a:lvl2pPr>
              <a:defRPr sz="1800" b="0">
                <a:solidFill>
                  <a:srgbClr val="222222"/>
                </a:solidFill>
                <a:latin typeface="Arial"/>
                <a:ea typeface="Arial"/>
                <a:cs typeface="Arial"/>
              </a:defRPr>
            </a:lvl2pPr>
            <a:lvl3pPr>
              <a:defRPr sz="1800" b="0">
                <a:solidFill>
                  <a:srgbClr val="222222"/>
                </a:solidFill>
                <a:latin typeface="Arial"/>
                <a:ea typeface="Arial"/>
                <a:cs typeface="Arial"/>
              </a:defRPr>
            </a:lvl3pPr>
            <a:lvl4pPr>
              <a:defRPr sz="1800" b="0">
                <a:solidFill>
                  <a:srgbClr val="222222"/>
                </a:solidFill>
                <a:latin typeface="Arial"/>
                <a:ea typeface="Arial"/>
                <a:cs typeface="Arial"/>
              </a:defRPr>
            </a:lvl4pPr>
            <a:lvl5pPr>
              <a:defRPr sz="1800" b="0">
                <a:solidFill>
                  <a:srgbClr val="222222"/>
                </a:solidFill>
                <a:latin typeface="Arial"/>
                <a:ea typeface="Arial"/>
                <a:cs typeface="Arial"/>
              </a:defRPr>
            </a:lvl5pPr>
            <a:lvl6pPr>
              <a:defRPr sz="1800" b="0">
                <a:solidFill>
                  <a:srgbClr val="222222"/>
                </a:solidFill>
                <a:latin typeface="Arial"/>
                <a:ea typeface="Arial"/>
                <a:cs typeface="Arial"/>
              </a:defRPr>
            </a:lvl6pPr>
            <a:lvl7pPr>
              <a:defRPr sz="1800" b="0">
                <a:solidFill>
                  <a:srgbClr val="222222"/>
                </a:solidFill>
                <a:latin typeface="Arial"/>
                <a:ea typeface="Arial"/>
                <a:cs typeface="Arial"/>
              </a:defRPr>
            </a:lvl7pPr>
            <a:lvl8pPr>
              <a:defRPr sz="1800" b="0">
                <a:solidFill>
                  <a:srgbClr val="222222"/>
                </a:solidFill>
                <a:latin typeface="Arial"/>
                <a:ea typeface="Arial"/>
                <a:cs typeface="Arial"/>
              </a:defRPr>
            </a:lvl8pPr>
            <a:lvl9pPr>
              <a:defRPr sz="1800" b="0">
                <a:solidFill>
                  <a:srgbClr val="222222"/>
                </a:solidFill>
                <a:latin typeface="Arial"/>
                <a:ea typeface="Arial"/>
                <a:cs typeface="Arial"/>
              </a:defRPr>
            </a:lvl9pPr>
          </a:lstStyle>
          <a:p>
            <a:pPr>
              <a:lnSpc>
                <a:spcPct val="112000"/>
              </a:lnSpc>
              <a:buNone/>
              <a:defRPr sz="1800" b="0">
                <a:solidFill>
                  <a:srgbClr val="222222"/>
                </a:solidFill>
                <a:latin typeface="Arial"/>
                <a:ea typeface="Arial"/>
                <a:cs typeface="Arial"/>
              </a:defRPr>
            </a:pPr>
            <a:r>
              <a:rPr sz="1800" b="0">
                <a:solidFill>
                  <a:srgbClr val="222222"/>
                </a:solidFill>
                <a:latin typeface="Arial"/>
                <a:ea typeface="Arial"/>
                <a:cs typeface="Arial"/>
              </a:rPr>
              <a:t>Discuss at least three limitations, including constant annual assumptions, the three-year horizon and unproven campaign uplift. Propose a randomized test to estimate the uplift.</a:t>
            </a:r>
          </a:p>
        </p:txBody>
      </p:sp>
      <p:sp>
        <p:nvSpPr>
          <p:cNvPr id="7" name="body-5">
            <a:extLst>
              <a:ext uri="{FF2B5EF4-FFF2-40B4-BE49-F238E27FC236}">
                <a16:creationId xmlns:a16="http://schemas.microsoft.com/office/drawing/2014/main" id="{92D636EE-0368-4BA8-A587-436C79DFBB00}"/>
              </a:ext>
            </a:extLst>
          </p:cNvPr>
          <p:cNvSpPr>
            <a:spLocks noGrp="1"/>
          </p:cNvSpPr>
          <p:nvPr/>
        </p:nvSpPr>
        <p:spPr>
          <a:xfrm>
            <a:off x="742950" y="4615434"/>
            <a:ext cx="10668000" cy="634746"/>
          </a:xfrm>
          <a:prstGeom prst="rect">
            <a:avLst/>
          </a:prstGeom>
          <a:noFill/>
          <a:ln w="0">
            <a:noFill/>
          </a:ln>
        </p:spPr>
        <p:txBody>
          <a:bodyPr wrap="square" lIns="0" tIns="0" rIns="0" bIns="0" anchor="t">
            <a:noAutofit/>
          </a:bodyPr>
          <a:lstStyle>
            <a:defPPr>
              <a:defRPr sz="1800" b="0">
                <a:solidFill>
                  <a:srgbClr val="222222"/>
                </a:solidFill>
                <a:latin typeface="Arial"/>
                <a:ea typeface="Arial"/>
                <a:cs typeface="Arial"/>
              </a:defRPr>
            </a:defPPr>
            <a:lvl1pPr>
              <a:defRPr sz="1800" b="0">
                <a:solidFill>
                  <a:srgbClr val="222222"/>
                </a:solidFill>
                <a:latin typeface="Arial"/>
                <a:ea typeface="Arial"/>
                <a:cs typeface="Arial"/>
              </a:defRPr>
            </a:lvl1pPr>
            <a:lvl2pPr>
              <a:defRPr sz="1800" b="0">
                <a:solidFill>
                  <a:srgbClr val="222222"/>
                </a:solidFill>
                <a:latin typeface="Arial"/>
                <a:ea typeface="Arial"/>
                <a:cs typeface="Arial"/>
              </a:defRPr>
            </a:lvl2pPr>
            <a:lvl3pPr>
              <a:defRPr sz="1800" b="0">
                <a:solidFill>
                  <a:srgbClr val="222222"/>
                </a:solidFill>
                <a:latin typeface="Arial"/>
                <a:ea typeface="Arial"/>
                <a:cs typeface="Arial"/>
              </a:defRPr>
            </a:lvl3pPr>
            <a:lvl4pPr>
              <a:defRPr sz="1800" b="0">
                <a:solidFill>
                  <a:srgbClr val="222222"/>
                </a:solidFill>
                <a:latin typeface="Arial"/>
                <a:ea typeface="Arial"/>
                <a:cs typeface="Arial"/>
              </a:defRPr>
            </a:lvl4pPr>
            <a:lvl5pPr>
              <a:defRPr sz="1800" b="0">
                <a:solidFill>
                  <a:srgbClr val="222222"/>
                </a:solidFill>
                <a:latin typeface="Arial"/>
                <a:ea typeface="Arial"/>
                <a:cs typeface="Arial"/>
              </a:defRPr>
            </a:lvl5pPr>
            <a:lvl6pPr>
              <a:defRPr sz="1800" b="0">
                <a:solidFill>
                  <a:srgbClr val="222222"/>
                </a:solidFill>
                <a:latin typeface="Arial"/>
                <a:ea typeface="Arial"/>
                <a:cs typeface="Arial"/>
              </a:defRPr>
            </a:lvl6pPr>
            <a:lvl7pPr>
              <a:defRPr sz="1800" b="0">
                <a:solidFill>
                  <a:srgbClr val="222222"/>
                </a:solidFill>
                <a:latin typeface="Arial"/>
                <a:ea typeface="Arial"/>
                <a:cs typeface="Arial"/>
              </a:defRPr>
            </a:lvl7pPr>
            <a:lvl8pPr>
              <a:defRPr sz="1800" b="0">
                <a:solidFill>
                  <a:srgbClr val="222222"/>
                </a:solidFill>
                <a:latin typeface="Arial"/>
                <a:ea typeface="Arial"/>
                <a:cs typeface="Arial"/>
              </a:defRPr>
            </a:lvl8pPr>
            <a:lvl9pPr>
              <a:defRPr sz="1800" b="0">
                <a:solidFill>
                  <a:srgbClr val="222222"/>
                </a:solidFill>
                <a:latin typeface="Arial"/>
                <a:ea typeface="Arial"/>
                <a:cs typeface="Arial"/>
              </a:defRPr>
            </a:lvl9pPr>
          </a:lstStyle>
          <a:p>
            <a:pPr>
              <a:lnSpc>
                <a:spcPct val="112000"/>
              </a:lnSpc>
              <a:buNone/>
              <a:defRPr sz="1800" b="0">
                <a:solidFill>
                  <a:srgbClr val="222222"/>
                </a:solidFill>
                <a:latin typeface="Arial"/>
                <a:ea typeface="Arial"/>
                <a:cs typeface="Arial"/>
              </a:defRPr>
            </a:pPr>
            <a:r>
              <a:rPr sz="1800" b="0">
                <a:solidFill>
                  <a:srgbClr val="222222"/>
                </a:solidFill>
                <a:latin typeface="Arial"/>
                <a:ea typeface="Arial"/>
                <a:cs typeface="Arial"/>
              </a:rPr>
              <a:t>Explain how CLV complements RFM. Discuss how the bank can improve service or reduce costs for negative-value customers without using CLV alone to decide access to services.</a:t>
            </a:r>
          </a:p>
        </p:txBody>
      </p:sp>
      <p:sp>
        <p:nvSpPr>
          <p:cNvPr id="8" name="footer">
            <a:extLst>
              <a:ext uri="{FF2B5EF4-FFF2-40B4-BE49-F238E27FC236}">
                <a16:creationId xmlns:a16="http://schemas.microsoft.com/office/drawing/2014/main" id="{D314B6E6-CBAF-44CA-A588-8ACFFF68360B}"/>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9" name="slide-number">
            <a:extLst>
              <a:ext uri="{FF2B5EF4-FFF2-40B4-BE49-F238E27FC236}">
                <a16:creationId xmlns:a16="http://schemas.microsoft.com/office/drawing/2014/main" id="{4A4C0109-1C34-480F-AEBF-0E25C626DFEF}"/>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10 / 13</a:t>
            </a:r>
          </a:p>
        </p:txBody>
      </p:sp>
    </p:spTree>
    <p:extLst>
      <p:ext uri="{BB962C8B-B14F-4D97-AF65-F5344CB8AC3E}">
        <p14:creationId xmlns:p14="http://schemas.microsoft.com/office/powerpoint/2010/main" val="641698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EECA5F0-AF60-403F-BE00-47741B1D62BD}"/>
              </a:ext>
            </a:extLst>
          </p:cNvPr>
          <p:cNvSpPr>
            <a:spLocks noGrp="1"/>
          </p:cNvSpPr>
          <p:nvPr/>
        </p:nvSpPr>
        <p:spPr>
          <a:xfrm>
            <a:off x="685800" y="476250"/>
            <a:ext cx="10820400" cy="723900"/>
          </a:xfrm>
          <a:prstGeom prst="rect">
            <a:avLst/>
          </a:prstGeom>
          <a:noFill/>
          <a:ln w="0">
            <a:noFill/>
          </a:ln>
        </p:spPr>
        <p:txBody>
          <a:bodyPr wrap="square" lIns="0" tIns="0" rIns="0" bIns="0" anchor="t">
            <a:noAutofit/>
          </a:bodyPr>
          <a:lstStyle>
            <a:defPPr>
              <a:defRPr sz="2850" b="1">
                <a:solidFill>
                  <a:srgbClr val="132D46"/>
                </a:solidFill>
                <a:latin typeface="Arial"/>
                <a:ea typeface="Arial"/>
                <a:cs typeface="Arial"/>
              </a:defRPr>
            </a:defPPr>
            <a:lvl1pPr>
              <a:defRPr sz="2850" b="1">
                <a:solidFill>
                  <a:srgbClr val="132D46"/>
                </a:solidFill>
                <a:latin typeface="Arial"/>
                <a:ea typeface="Arial"/>
                <a:cs typeface="Arial"/>
              </a:defRPr>
            </a:lvl1pPr>
            <a:lvl2pPr>
              <a:defRPr sz="2850" b="1">
                <a:solidFill>
                  <a:srgbClr val="132D46"/>
                </a:solidFill>
                <a:latin typeface="Arial"/>
                <a:ea typeface="Arial"/>
                <a:cs typeface="Arial"/>
              </a:defRPr>
            </a:lvl2pPr>
            <a:lvl3pPr>
              <a:defRPr sz="2850" b="1">
                <a:solidFill>
                  <a:srgbClr val="132D46"/>
                </a:solidFill>
                <a:latin typeface="Arial"/>
                <a:ea typeface="Arial"/>
                <a:cs typeface="Arial"/>
              </a:defRPr>
            </a:lvl3pPr>
            <a:lvl4pPr>
              <a:defRPr sz="2850" b="1">
                <a:solidFill>
                  <a:srgbClr val="132D46"/>
                </a:solidFill>
                <a:latin typeface="Arial"/>
                <a:ea typeface="Arial"/>
                <a:cs typeface="Arial"/>
              </a:defRPr>
            </a:lvl4pPr>
            <a:lvl5pPr>
              <a:defRPr sz="2850" b="1">
                <a:solidFill>
                  <a:srgbClr val="132D46"/>
                </a:solidFill>
                <a:latin typeface="Arial"/>
                <a:ea typeface="Arial"/>
                <a:cs typeface="Arial"/>
              </a:defRPr>
            </a:lvl5pPr>
            <a:lvl6pPr>
              <a:defRPr sz="2850" b="1">
                <a:solidFill>
                  <a:srgbClr val="132D46"/>
                </a:solidFill>
                <a:latin typeface="Arial"/>
                <a:ea typeface="Arial"/>
                <a:cs typeface="Arial"/>
              </a:defRPr>
            </a:lvl6pPr>
            <a:lvl7pPr>
              <a:defRPr sz="2850" b="1">
                <a:solidFill>
                  <a:srgbClr val="132D46"/>
                </a:solidFill>
                <a:latin typeface="Arial"/>
                <a:ea typeface="Arial"/>
                <a:cs typeface="Arial"/>
              </a:defRPr>
            </a:lvl7pPr>
            <a:lvl8pPr>
              <a:defRPr sz="2850" b="1">
                <a:solidFill>
                  <a:srgbClr val="132D46"/>
                </a:solidFill>
                <a:latin typeface="Arial"/>
                <a:ea typeface="Arial"/>
                <a:cs typeface="Arial"/>
              </a:defRPr>
            </a:lvl8pPr>
            <a:lvl9pPr>
              <a:defRPr sz="2850" b="1">
                <a:solidFill>
                  <a:srgbClr val="132D46"/>
                </a:solidFill>
                <a:latin typeface="Arial"/>
                <a:ea typeface="Arial"/>
                <a:cs typeface="Arial"/>
              </a:defRPr>
            </a:lvl9pPr>
          </a:lstStyle>
          <a:p>
            <a:pPr>
              <a:lnSpc>
                <a:spcPct val="112000"/>
              </a:lnSpc>
              <a:buNone/>
              <a:defRPr sz="2850" b="1">
                <a:solidFill>
                  <a:srgbClr val="132D46"/>
                </a:solidFill>
                <a:latin typeface="Arial"/>
                <a:ea typeface="Arial"/>
                <a:cs typeface="Arial"/>
              </a:defRPr>
            </a:pPr>
            <a:r>
              <a:rPr sz="2850" b="1">
                <a:solidFill>
                  <a:srgbClr val="132D46"/>
                </a:solidFill>
                <a:latin typeface="Arial"/>
                <a:ea typeface="Arial"/>
                <a:cs typeface="Arial"/>
              </a:rPr>
              <a:t>Required Deliverables</a:t>
            </a:r>
          </a:p>
        </p:txBody>
      </p:sp>
      <p:sp>
        <p:nvSpPr>
          <p:cNvPr id="3" name="body-1">
            <a:extLst>
              <a:ext uri="{FF2B5EF4-FFF2-40B4-BE49-F238E27FC236}">
                <a16:creationId xmlns:a16="http://schemas.microsoft.com/office/drawing/2014/main" id="{72DB920D-26CB-4B3A-99A5-8C43F991D29E}"/>
              </a:ext>
            </a:extLst>
          </p:cNvPr>
          <p:cNvSpPr>
            <a:spLocks noGrp="1"/>
          </p:cNvSpPr>
          <p:nvPr/>
        </p:nvSpPr>
        <p:spPr>
          <a:xfrm>
            <a:off x="742950" y="1466850"/>
            <a:ext cx="10668000" cy="612267"/>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One reproducible Python/R notebook or SQL script covering cleaning, calculations, campaign selection and sensitivity analysis.</a:t>
            </a:r>
          </a:p>
        </p:txBody>
      </p:sp>
      <p:sp>
        <p:nvSpPr>
          <p:cNvPr id="4" name="body-2">
            <a:extLst>
              <a:ext uri="{FF2B5EF4-FFF2-40B4-BE49-F238E27FC236}">
                <a16:creationId xmlns:a16="http://schemas.microsoft.com/office/drawing/2014/main" id="{26283AD1-8CA7-4D26-9676-97AEBDAA4C2C}"/>
              </a:ext>
            </a:extLst>
          </p:cNvPr>
          <p:cNvSpPr>
            <a:spLocks noGrp="1"/>
          </p:cNvSpPr>
          <p:nvPr/>
        </p:nvSpPr>
        <p:spPr>
          <a:xfrm>
            <a:off x="742950" y="2231517"/>
            <a:ext cx="10668000" cy="612267"/>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One customer_clv.csv : customer_id, annual_contribution_vnd, annual_retention_rate, clv_3yr_vnd, clv_rank, segment, quality_status, campaign_delta_vnd, selected.</a:t>
            </a:r>
          </a:p>
        </p:txBody>
      </p:sp>
      <p:sp>
        <p:nvSpPr>
          <p:cNvPr id="5" name="body-3">
            <a:extLst>
              <a:ext uri="{FF2B5EF4-FFF2-40B4-BE49-F238E27FC236}">
                <a16:creationId xmlns:a16="http://schemas.microsoft.com/office/drawing/2014/main" id="{7032415C-10F8-4025-8264-E4F7133FF310}"/>
              </a:ext>
            </a:extLst>
          </p:cNvPr>
          <p:cNvSpPr>
            <a:spLocks noGrp="1"/>
          </p:cNvSpPr>
          <p:nvPr/>
        </p:nvSpPr>
        <p:spPr>
          <a:xfrm>
            <a:off x="742950" y="2996184"/>
            <a:ext cx="10668000" cy="612267"/>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One PDF report (maximum five pages) or five-slide findings presentation, including the required charts and campaign recommendation.</a:t>
            </a:r>
          </a:p>
        </p:txBody>
      </p:sp>
      <p:sp>
        <p:nvSpPr>
          <p:cNvPr id="6" name="body-4">
            <a:extLst>
              <a:ext uri="{FF2B5EF4-FFF2-40B4-BE49-F238E27FC236}">
                <a16:creationId xmlns:a16="http://schemas.microsoft.com/office/drawing/2014/main" id="{0AA020E9-50A4-4172-ADB3-DA5414782FC3}"/>
              </a:ext>
            </a:extLst>
          </p:cNvPr>
          <p:cNvSpPr>
            <a:spLocks noGrp="1"/>
          </p:cNvSpPr>
          <p:nvPr/>
        </p:nvSpPr>
        <p:spPr>
          <a:xfrm>
            <a:off x="742950" y="3760851"/>
            <a:ext cx="10668000" cy="612267"/>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A README documenting assumptions, cleaning decisions, segment rules and steps to reproduce the work. Define output fields and the meaning of missing values.</a:t>
            </a:r>
          </a:p>
        </p:txBody>
      </p:sp>
      <p:sp>
        <p:nvSpPr>
          <p:cNvPr id="7" name="body-5">
            <a:extLst>
              <a:ext uri="{FF2B5EF4-FFF2-40B4-BE49-F238E27FC236}">
                <a16:creationId xmlns:a16="http://schemas.microsoft.com/office/drawing/2014/main" id="{1BB71A6D-52A9-4800-8997-82C260122ED9}"/>
              </a:ext>
            </a:extLst>
          </p:cNvPr>
          <p:cNvSpPr>
            <a:spLocks noGrp="1"/>
          </p:cNvSpPr>
          <p:nvPr/>
        </p:nvSpPr>
        <p:spPr>
          <a:xfrm>
            <a:off x="742950" y="4525518"/>
            <a:ext cx="10668000" cy="353759"/>
          </a:xfrm>
          <a:prstGeom prst="rect">
            <a:avLst/>
          </a:prstGeom>
          <a:noFill/>
          <a:ln w="0">
            <a:noFill/>
          </a:ln>
        </p:spPr>
        <p:txBody>
          <a:bodyPr wrap="square" lIns="0" tIns="0" rIns="0" bIns="0" anchor="t">
            <a:noAutofit/>
          </a:bodyPr>
          <a:lstStyle>
            <a:defPPr>
              <a:defRPr sz="1725" b="0">
                <a:solidFill>
                  <a:srgbClr val="222222"/>
                </a:solidFill>
                <a:latin typeface="Arial"/>
                <a:ea typeface="Arial"/>
                <a:cs typeface="Arial"/>
              </a:defRPr>
            </a:defPPr>
            <a:lvl1pPr>
              <a:defRPr sz="1725" b="0">
                <a:solidFill>
                  <a:srgbClr val="222222"/>
                </a:solidFill>
                <a:latin typeface="Arial"/>
                <a:ea typeface="Arial"/>
                <a:cs typeface="Arial"/>
              </a:defRPr>
            </a:lvl1pPr>
            <a:lvl2pPr>
              <a:defRPr sz="1725" b="0">
                <a:solidFill>
                  <a:srgbClr val="222222"/>
                </a:solidFill>
                <a:latin typeface="Arial"/>
                <a:ea typeface="Arial"/>
                <a:cs typeface="Arial"/>
              </a:defRPr>
            </a:lvl2pPr>
            <a:lvl3pPr>
              <a:defRPr sz="1725" b="0">
                <a:solidFill>
                  <a:srgbClr val="222222"/>
                </a:solidFill>
                <a:latin typeface="Arial"/>
                <a:ea typeface="Arial"/>
                <a:cs typeface="Arial"/>
              </a:defRPr>
            </a:lvl3pPr>
            <a:lvl4pPr>
              <a:defRPr sz="1725" b="0">
                <a:solidFill>
                  <a:srgbClr val="222222"/>
                </a:solidFill>
                <a:latin typeface="Arial"/>
                <a:ea typeface="Arial"/>
                <a:cs typeface="Arial"/>
              </a:defRPr>
            </a:lvl4pPr>
            <a:lvl5pPr>
              <a:defRPr sz="1725" b="0">
                <a:solidFill>
                  <a:srgbClr val="222222"/>
                </a:solidFill>
                <a:latin typeface="Arial"/>
                <a:ea typeface="Arial"/>
                <a:cs typeface="Arial"/>
              </a:defRPr>
            </a:lvl5pPr>
            <a:lvl6pPr>
              <a:defRPr sz="1725" b="0">
                <a:solidFill>
                  <a:srgbClr val="222222"/>
                </a:solidFill>
                <a:latin typeface="Arial"/>
                <a:ea typeface="Arial"/>
                <a:cs typeface="Arial"/>
              </a:defRPr>
            </a:lvl6pPr>
            <a:lvl7pPr>
              <a:defRPr sz="1725" b="0">
                <a:solidFill>
                  <a:srgbClr val="222222"/>
                </a:solidFill>
                <a:latin typeface="Arial"/>
                <a:ea typeface="Arial"/>
                <a:cs typeface="Arial"/>
              </a:defRPr>
            </a:lvl7pPr>
            <a:lvl8pPr>
              <a:defRPr sz="1725" b="0">
                <a:solidFill>
                  <a:srgbClr val="222222"/>
                </a:solidFill>
                <a:latin typeface="Arial"/>
                <a:ea typeface="Arial"/>
                <a:cs typeface="Arial"/>
              </a:defRPr>
            </a:lvl8pPr>
            <a:lvl9pPr>
              <a:defRPr sz="1725" b="0">
                <a:solidFill>
                  <a:srgbClr val="222222"/>
                </a:solidFill>
                <a:latin typeface="Arial"/>
                <a:ea typeface="Arial"/>
                <a:cs typeface="Arial"/>
              </a:defRPr>
            </a:lvl9pPr>
          </a:lstStyle>
          <a:p>
            <a:pPr>
              <a:lnSpc>
                <a:spcPct val="112000"/>
              </a:lnSpc>
              <a:buNone/>
              <a:defRPr sz="1725" b="0">
                <a:solidFill>
                  <a:srgbClr val="222222"/>
                </a:solidFill>
                <a:latin typeface="Arial"/>
                <a:ea typeface="Arial"/>
                <a:cs typeface="Arial"/>
              </a:defRPr>
            </a:pPr>
            <a:r>
              <a:rPr sz="1725" b="0">
                <a:solidFill>
                  <a:srgbClr val="222222"/>
                </a:solidFill>
                <a:latin typeface="Arial"/>
                <a:ea typeface="Arial"/>
                <a:cs typeface="Arial"/>
              </a:rPr>
              <a:t>Include the nine-scenario summary and year-by-year CLV calculations in the reproducible analysis.</a:t>
            </a:r>
          </a:p>
        </p:txBody>
      </p:sp>
      <p:sp>
        <p:nvSpPr>
          <p:cNvPr id="8" name="footer">
            <a:extLst>
              <a:ext uri="{FF2B5EF4-FFF2-40B4-BE49-F238E27FC236}">
                <a16:creationId xmlns:a16="http://schemas.microsoft.com/office/drawing/2014/main" id="{C226C4F3-1927-4587-ABA0-4A4B7CF39F2D}"/>
              </a:ext>
            </a:extLst>
          </p:cNvPr>
          <p:cNvSpPr>
            <a:spLocks noGrp="1"/>
          </p:cNvSpPr>
          <p:nvPr/>
        </p:nvSpPr>
        <p:spPr>
          <a:xfrm>
            <a:off x="742950" y="6429375"/>
            <a:ext cx="857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CHAPTER 5  /  CLV BANKING LAB</a:t>
            </a:r>
          </a:p>
        </p:txBody>
      </p:sp>
      <p:sp>
        <p:nvSpPr>
          <p:cNvPr id="9" name="slide-number">
            <a:extLst>
              <a:ext uri="{FF2B5EF4-FFF2-40B4-BE49-F238E27FC236}">
                <a16:creationId xmlns:a16="http://schemas.microsoft.com/office/drawing/2014/main" id="{C9506A50-E56C-418B-9719-F16FE7E121C3}"/>
              </a:ext>
            </a:extLst>
          </p:cNvPr>
          <p:cNvSpPr>
            <a:spLocks noGrp="1"/>
          </p:cNvSpPr>
          <p:nvPr/>
        </p:nvSpPr>
        <p:spPr>
          <a:xfrm>
            <a:off x="10496550" y="6429375"/>
            <a:ext cx="952500" cy="228600"/>
          </a:xfrm>
          <a:prstGeom prst="rect">
            <a:avLst/>
          </a:prstGeom>
          <a:noFill/>
          <a:ln w="0">
            <a:noFill/>
          </a:ln>
        </p:spPr>
        <p:txBody>
          <a:bodyPr wrap="square" lIns="0" tIns="0" rIns="0" bIns="0" anchor="t">
            <a:noAutofit/>
          </a:bodyPr>
          <a:lstStyle>
            <a:defPPr>
              <a:defRPr sz="1050" b="0">
                <a:solidFill>
                  <a:srgbClr val="64748B"/>
                </a:solidFill>
                <a:latin typeface="Arial"/>
                <a:ea typeface="Arial"/>
                <a:cs typeface="Arial"/>
              </a:defRPr>
            </a:defPPr>
            <a:lvl1pPr>
              <a:defRPr sz="1050" b="0">
                <a:solidFill>
                  <a:srgbClr val="64748B"/>
                </a:solidFill>
                <a:latin typeface="Arial"/>
                <a:ea typeface="Arial"/>
                <a:cs typeface="Arial"/>
              </a:defRPr>
            </a:lvl1pPr>
            <a:lvl2pPr>
              <a:defRPr sz="1050" b="0">
                <a:solidFill>
                  <a:srgbClr val="64748B"/>
                </a:solidFill>
                <a:latin typeface="Arial"/>
                <a:ea typeface="Arial"/>
                <a:cs typeface="Arial"/>
              </a:defRPr>
            </a:lvl2pPr>
            <a:lvl3pPr>
              <a:defRPr sz="1050" b="0">
                <a:solidFill>
                  <a:srgbClr val="64748B"/>
                </a:solidFill>
                <a:latin typeface="Arial"/>
                <a:ea typeface="Arial"/>
                <a:cs typeface="Arial"/>
              </a:defRPr>
            </a:lvl3pPr>
            <a:lvl4pPr>
              <a:defRPr sz="1050" b="0">
                <a:solidFill>
                  <a:srgbClr val="64748B"/>
                </a:solidFill>
                <a:latin typeface="Arial"/>
                <a:ea typeface="Arial"/>
                <a:cs typeface="Arial"/>
              </a:defRPr>
            </a:lvl4pPr>
            <a:lvl5pPr>
              <a:defRPr sz="1050" b="0">
                <a:solidFill>
                  <a:srgbClr val="64748B"/>
                </a:solidFill>
                <a:latin typeface="Arial"/>
                <a:ea typeface="Arial"/>
                <a:cs typeface="Arial"/>
              </a:defRPr>
            </a:lvl5pPr>
            <a:lvl6pPr>
              <a:defRPr sz="1050" b="0">
                <a:solidFill>
                  <a:srgbClr val="64748B"/>
                </a:solidFill>
                <a:latin typeface="Arial"/>
                <a:ea typeface="Arial"/>
                <a:cs typeface="Arial"/>
              </a:defRPr>
            </a:lvl6pPr>
            <a:lvl7pPr>
              <a:defRPr sz="1050" b="0">
                <a:solidFill>
                  <a:srgbClr val="64748B"/>
                </a:solidFill>
                <a:latin typeface="Arial"/>
                <a:ea typeface="Arial"/>
                <a:cs typeface="Arial"/>
              </a:defRPr>
            </a:lvl7pPr>
            <a:lvl8pPr>
              <a:defRPr sz="1050" b="0">
                <a:solidFill>
                  <a:srgbClr val="64748B"/>
                </a:solidFill>
                <a:latin typeface="Arial"/>
                <a:ea typeface="Arial"/>
                <a:cs typeface="Arial"/>
              </a:defRPr>
            </a:lvl8pPr>
            <a:lvl9pPr>
              <a:defRPr sz="1050" b="0">
                <a:solidFill>
                  <a:srgbClr val="64748B"/>
                </a:solidFill>
                <a:latin typeface="Arial"/>
                <a:ea typeface="Arial"/>
                <a:cs typeface="Arial"/>
              </a:defRPr>
            </a:lvl9pPr>
          </a:lstStyle>
          <a:p>
            <a:pPr>
              <a:lnSpc>
                <a:spcPct val="112000"/>
              </a:lnSpc>
              <a:buNone/>
              <a:defRPr sz="1050" b="0">
                <a:solidFill>
                  <a:srgbClr val="64748B"/>
                </a:solidFill>
                <a:latin typeface="Arial"/>
                <a:ea typeface="Arial"/>
                <a:cs typeface="Arial"/>
              </a:defRPr>
            </a:pPr>
            <a:r>
              <a:rPr sz="1050" b="0">
                <a:solidFill>
                  <a:srgbClr val="64748B"/>
                </a:solidFill>
                <a:latin typeface="Arial"/>
                <a:ea typeface="Arial"/>
                <a:cs typeface="Arial"/>
              </a:rPr>
              <a:t>11 / 13</a:t>
            </a:r>
          </a:p>
        </p:txBody>
      </p:sp>
    </p:spTree>
    <p:extLst>
      <p:ext uri="{BB962C8B-B14F-4D97-AF65-F5344CB8AC3E}">
        <p14:creationId xmlns:p14="http://schemas.microsoft.com/office/powerpoint/2010/main" val="77754112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8CABE7ED8B1E4C98CE33D0C080CEFB" ma:contentTypeVersion="10" ma:contentTypeDescription="Create a new document." ma:contentTypeScope="" ma:versionID="c76e8c39118b4c372f01182d64cdf267">
  <xsd:schema xmlns:xsd="http://www.w3.org/2001/XMLSchema" xmlns:xs="http://www.w3.org/2001/XMLSchema" xmlns:p="http://schemas.microsoft.com/office/2006/metadata/properties" xmlns:ns2="151a6fa3-6b6f-407b-8d80-a98fbfd3ffc6" xmlns:ns3="9f0097a7-8621-4cd9-86c3-ef87ef700e15" targetNamespace="http://schemas.microsoft.com/office/2006/metadata/properties" ma:root="true" ma:fieldsID="43d62035d1ac8199747859d2a989128c" ns2:_="" ns3:_="">
    <xsd:import namespace="151a6fa3-6b6f-407b-8d80-a98fbfd3ffc6"/>
    <xsd:import namespace="9f0097a7-8621-4cd9-86c3-ef87ef700e15"/>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1a6fa3-6b6f-407b-8d80-a98fbfd3ffc6"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0097a7-8621-4cd9-86c3-ef87ef700e15"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eab9b1a-4347-4ada-8038-318a505ec81a}" ma:internalName="TaxCatchAll" ma:showField="CatchAllData" ma:web="9f0097a7-8621-4cd9-86c3-ef87ef700e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151a6fa3-6b6f-407b-8d80-a98fbfd3ffc6" xsi:nil="true"/>
    <TaxCatchAll xmlns="9f0097a7-8621-4cd9-86c3-ef87ef700e15" xsi:nil="true"/>
    <lcf76f155ced4ddcb4097134ff3c332f xmlns="151a6fa3-6b6f-407b-8d80-a98fbfd3ffc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267330E-7964-459B-B1DE-4C7CAD79619C}"/>
</file>

<file path=customXml/itemProps2.xml><?xml version="1.0" encoding="utf-8"?>
<ds:datastoreItem xmlns:ds="http://schemas.openxmlformats.org/officeDocument/2006/customXml" ds:itemID="{B2970D5D-C64B-4F29-BA52-5512DE0A3753}"/>
</file>

<file path=customXml/itemProps3.xml><?xml version="1.0" encoding="utf-8"?>
<ds:datastoreItem xmlns:ds="http://schemas.openxmlformats.org/officeDocument/2006/customXml" ds:itemID="{EEBAE4EB-9490-4EBD-8572-8DD780597AE7}"/>
</file>

<file path=docProps/app.xml><?xml version="1.0" encoding="utf-8"?>
<Properties xmlns="http://schemas.openxmlformats.org/officeDocument/2006/extended-properties" xmlns:vt="http://schemas.openxmlformats.org/officeDocument/2006/docPropsVTypes">
  <TotalTime>0</TotalTime>
  <Words>1495</Words>
  <Application>Microsoft Office PowerPoint</Application>
  <DocSecurity>0</DocSecurity>
  <PresentationFormat>Widescreen</PresentationFormat>
  <Paragraphs>80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Bùi Quốc Trung</cp:lastModifiedBy>
  <cp:revision>1</cp:revision>
  <dcterms:created xsi:type="dcterms:W3CDTF">2026-10-29T02:44:23Z</dcterms:created>
  <dcterms:modified xsi:type="dcterms:W3CDTF">2026-10-29T03:12:07Z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0x010100AC8CABE7ED8B1E4C98CE33D0C080CEFB</vt:lpwstr>
  </property>
</Properties>
</file>