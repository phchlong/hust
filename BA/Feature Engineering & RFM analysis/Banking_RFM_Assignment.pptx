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2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ùi Quốc Trung" userId="7c17d58a-8c42-432c-aaf1-86770ca48271" providerId="ADAL" clId="{18949F86-D894-4EA5-BAEB-F0C08F41B037}"/>
    <pc:docChg chg="modSld">
      <pc:chgData name="Bùi Quốc Trung" userId="7c17d58a-8c42-432c-aaf1-86770ca48271" providerId="ADAL" clId="{18949F86-D894-4EA5-BAEB-F0C08F41B037}" dt="2026-10-22T03:46:03.063" v="10" actId="20577"/>
      <pc:docMkLst>
        <pc:docMk/>
      </pc:docMkLst>
      <pc:sldChg chg="modSp mod">
        <pc:chgData name="Bùi Quốc Trung" userId="7c17d58a-8c42-432c-aaf1-86770ca48271" providerId="ADAL" clId="{18949F86-D894-4EA5-BAEB-F0C08F41B037}" dt="2026-10-22T03:46:03.063" v="10" actId="20577"/>
        <pc:sldMkLst>
          <pc:docMk/>
          <pc:sldMk cId="0" sldId="256"/>
        </pc:sldMkLst>
        <pc:spChg chg="mod">
          <ac:chgData name="Bùi Quốc Trung" userId="7c17d58a-8c42-432c-aaf1-86770ca48271" providerId="ADAL" clId="{18949F86-D894-4EA5-BAEB-F0C08F41B037}" dt="2026-10-22T03:46:03.063" v="10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BANKING CUSTOMER RFM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PRACTICAL ASSIGNMENT • FEATURE ENGINEERING &amp; SEGMENTATION</a:t>
            </a:r>
          </a:p>
          <a:p>
            <a:r>
              <a:rPr>
                <a:solidFill>
                  <a:srgbClr val="000000"/>
                </a:solidFill>
              </a:rPr>
              <a:t>Synthetic data | </a:t>
            </a:r>
            <a:r>
              <a:rPr lang="en-US">
                <a:solidFill>
                  <a:srgbClr val="000000"/>
                </a:solidFill>
              </a:rPr>
              <a:t>Individual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A retail bank wants to identify highly engaged customers, customers with high transaction volumes, and customers at risk of disengagement.</a:t>
            </a:r>
          </a:p>
          <a:p>
            <a:r>
              <a:rPr>
                <a:solidFill>
                  <a:srgbClr val="000000"/>
                </a:solidFill>
              </a:rPr>
              <a:t>Your role: Data Analyst presenting recommendations to the CRM Manager.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1. Clean transaction data and establish the customer-level grain.</a:t>
            </a:r>
          </a:p>
          <a:p>
            <a:r>
              <a:rPr>
                <a:solidFill>
                  <a:srgbClr val="000000"/>
                </a:solidFill>
              </a:rPr>
              <a:t>2. Define R, F, and M for the banking context.</a:t>
            </a:r>
          </a:p>
          <a:p>
            <a:r>
              <a:rPr>
                <a:solidFill>
                  <a:srgbClr val="000000"/>
                </a:solidFill>
              </a:rPr>
              <a:t>3. Assign scores from 1 to 5 and segment customers.</a:t>
            </a:r>
          </a:p>
          <a:p>
            <a:r>
              <a:rPr>
                <a:solidFill>
                  <a:srgbClr val="000000"/>
                </a:solidFill>
              </a:rPr>
              <a:t>4. Communicate insights, campaign recommendations, and model limitations.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Provided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customers.csv: customer_id, open_date, city, age_band, onboarding_channel, synthetic_profile_hint.</a:t>
            </a:r>
          </a:p>
          <a:p>
            <a:r>
              <a:rPr>
                <a:solidFill>
                  <a:srgbClr val="000000"/>
                </a:solidFill>
              </a:rPr>
              <a:t>transactions.csv: transaction_id, customer_id, transaction_date, transaction_type, amount_vnd, status, channel.</a:t>
            </a:r>
          </a:p>
          <a:p>
            <a:r>
              <a:rPr>
                <a:solidFill>
                  <a:srgbClr val="000000"/>
                </a:solidFill>
              </a:rPr>
              <a:t>Intentional data-quality issues are included. Do not use synthetic_profile_hint in the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Analysis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As-of date: October 1, 2026.</a:t>
            </a:r>
          </a:p>
          <a:p>
            <a:r>
              <a:rPr>
                <a:solidFill>
                  <a:srgbClr val="000000"/>
                </a:solidFill>
              </a:rPr>
              <a:t>Observation window: October 1, 2025 – September 30, 2026 (12 months).</a:t>
            </a:r>
          </a:p>
          <a:p>
            <a:r>
              <a:rPr>
                <a:solidFill>
                  <a:srgbClr val="000000"/>
                </a:solidFill>
              </a:rPr>
              <a:t>Unit of analysis: one row per customer.</a:t>
            </a:r>
          </a:p>
          <a:p>
            <a:r>
              <a:rPr>
                <a:solidFill>
                  <a:srgbClr val="000000"/>
                </a:solidFill>
              </a:rPr>
              <a:t>Use only information available before the as-of date (no data leakage).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Task 1 — Data Preparation (20 points)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Explore the data: dimensions, missing values, duplicates, and transaction statuses.</a:t>
            </a:r>
          </a:p>
          <a:p>
            <a:r>
              <a:rPr>
                <a:solidFill>
                  <a:srgbClr val="000000"/>
                </a:solidFill>
              </a:rPr>
              <a:t>Clean duplicate transaction_id values, missing dates, and invalid amounts.</a:t>
            </a:r>
          </a:p>
          <a:p>
            <a:r>
              <a:rPr>
                <a:solidFill>
                  <a:srgbClr val="000000"/>
                </a:solidFill>
              </a:rPr>
              <a:t>Keep SUCCESS transactions and justify your transaction-type eligibility policy.</a:t>
            </a:r>
          </a:p>
          <a:p>
            <a:r>
              <a:rPr>
                <a:solidFill>
                  <a:srgbClr val="000000"/>
                </a:solidFill>
              </a:rPr>
              <a:t>Report the number of records excluded for each reason.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Task 2 — Feature Engineering (25 points)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R = days since the most recent eligible transaction, measured at the as-of date.</a:t>
            </a:r>
          </a:p>
          <a:p>
            <a:r>
              <a:rPr>
                <a:solidFill>
                  <a:srgbClr val="000000"/>
                </a:solidFill>
              </a:rPr>
              <a:t>F = number of eligible transactions during the 12-month window.</a:t>
            </a:r>
          </a:p>
          <a:p>
            <a:r>
              <a:rPr>
                <a:solidFill>
                  <a:srgbClr val="000000"/>
                </a:solidFill>
              </a:rPr>
              <a:t>M = total value of eligible outgoing/spending transactions (VND) during the window.</a:t>
            </a:r>
          </a:p>
          <a:p>
            <a:r>
              <a:rPr>
                <a:solidFill>
                  <a:srgbClr val="000000"/>
                </a:solidFill>
              </a:rPr>
              <a:t>Propose a policy for customers with no eligible transactions.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Task 3 — Scoring &amp; Segmentation (20 points)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Score R, F, and M using quintiles (1–5): lower R means a higher score.</a:t>
            </a:r>
          </a:p>
          <a:p>
            <a:r>
              <a:rPr>
                <a:solidFill>
                  <a:srgbClr val="000000"/>
                </a:solidFill>
              </a:rPr>
              <a:t>Explicitly define how to handle ties, missing values, and F = 0.</a:t>
            </a:r>
          </a:p>
          <a:p>
            <a:r>
              <a:rPr>
                <a:solidFill>
                  <a:srgbClr val="000000"/>
                </a:solidFill>
              </a:rPr>
              <a:t>Create at least five segments: Champions, Loyal, Potential, At Risk, Hibernating.</a:t>
            </a:r>
          </a:p>
          <a:p>
            <a:r>
              <a:rPr>
                <a:solidFill>
                  <a:srgbClr val="000000"/>
                </a:solidFill>
              </a:rPr>
              <a:t>Explain mutually exclusive segment assignment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Task 4 — Insights &amp; Actions (20 points)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Show segment sizes and each segment’s share of M.</a:t>
            </a:r>
          </a:p>
          <a:p>
            <a:r>
              <a:rPr>
                <a:solidFill>
                  <a:srgbClr val="000000"/>
                </a:solidFill>
              </a:rPr>
              <a:t>Create at least three charts, including RFM distributions and segment composition.</a:t>
            </a:r>
          </a:p>
          <a:p>
            <a:r>
              <a:rPr>
                <a:solidFill>
                  <a:srgbClr val="000000"/>
                </a:solidFill>
              </a:rPr>
              <a:t>Recommend specific actions for three segments, with measurable KPIs.</a:t>
            </a:r>
          </a:p>
          <a:p>
            <a:r>
              <a:rPr>
                <a:solidFill>
                  <a:srgbClr val="000000"/>
                </a:solidFill>
              </a:rPr>
              <a:t>Remember: M represents transaction volume, not bank revenue or profit.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Task 5 — Critical Thinking (15 points)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Propose at least two additional features: tenure, 90-day trends, digital share, product mix, etc.</a:t>
            </a:r>
          </a:p>
          <a:p>
            <a:r>
              <a:rPr>
                <a:solidFill>
                  <a:srgbClr val="000000"/>
                </a:solidFill>
              </a:rPr>
              <a:t>Explain the limitations of RFM in banking.</a:t>
            </a:r>
          </a:p>
          <a:p>
            <a:r>
              <a:rPr>
                <a:solidFill>
                  <a:srgbClr val="000000"/>
                </a:solidFill>
              </a:rPr>
              <a:t>Discuss data leakage, bias, and ways to evaluate segment stability.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Required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One reproducible Python/R notebook or SQL script.</a:t>
            </a:r>
          </a:p>
          <a:p>
            <a:r>
              <a:rPr>
                <a:solidFill>
                  <a:srgbClr val="000000"/>
                </a:solidFill>
              </a:rPr>
              <a:t>One customer_rfm.csv table: customer_id, R, F, M, R_score, F_score, M_score, segment.</a:t>
            </a:r>
          </a:p>
          <a:p>
            <a:r>
              <a:rPr>
                <a:solidFill>
                  <a:srgbClr val="000000"/>
                </a:solidFill>
              </a:rPr>
              <a:t>One PDF report (maximum five pages) or five-slide findings presentation.</a:t>
            </a:r>
          </a:p>
          <a:p>
            <a:r>
              <a:rPr>
                <a:solidFill>
                  <a:srgbClr val="000000"/>
                </a:solidFill>
              </a:rPr>
              <a:t>A README documenting assumptions and data-cleaning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Grading Rubric &amp;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Data preparation 20 | Feature engineering 25 | Scoring 20</a:t>
            </a:r>
          </a:p>
          <a:p>
            <a:r>
              <a:rPr>
                <a:solidFill>
                  <a:srgbClr val="000000"/>
                </a:solidFill>
              </a:rPr>
              <a:t>Business insights 20 | Critical thinking 15 = 100 points.</a:t>
            </a:r>
          </a:p>
          <a:p>
            <a:r>
              <a:rPr>
                <a:solidFill>
                  <a:srgbClr val="000000"/>
                </a:solidFill>
              </a:rPr>
              <a:t>There is no single correct set of segment thresholds: grading emphasizes logic, reproducibility, and explanation.</a:t>
            </a:r>
          </a:p>
          <a:p>
            <a:r>
              <a:rPr>
                <a:solidFill>
                  <a:srgbClr val="000000"/>
                </a:solidFill>
              </a:rPr>
              <a:t>Do not use data after September 30,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Discussion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0876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solidFill>
                  <a:srgbClr val="000000"/>
                </a:solidFill>
              </a:rPr>
              <a:t>Two customers have the same M, but one makes a single large transfer while the other makes frequent payments. How do their RFM profiles differ?</a:t>
            </a:r>
          </a:p>
          <a:p>
            <a:r>
              <a:rPr>
                <a:solidFill>
                  <a:srgbClr val="000000"/>
                </a:solidFill>
              </a:rPr>
              <a:t>Why should incoming transfers not automatically count toward spending-based Monetary?</a:t>
            </a:r>
          </a:p>
          <a:p>
            <a:r>
              <a:rPr>
                <a:solidFill>
                  <a:srgbClr val="000000"/>
                </a:solidFill>
              </a:rPr>
              <a:t>Which segment should be prioritized when the CRM budget is limited?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rPr>
                <a:solidFill>
                  <a:srgbClr val="000000"/>
                </a:solidFill>
              </a:rPr>
              <a:t>CHAPTER 5 • RFM BANKING LAB                                                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8CABE7ED8B1E4C98CE33D0C080CEFB" ma:contentTypeVersion="10" ma:contentTypeDescription="Create a new document." ma:contentTypeScope="" ma:versionID="c76e8c39118b4c372f01182d64cdf267">
  <xsd:schema xmlns:xsd="http://www.w3.org/2001/XMLSchema" xmlns:xs="http://www.w3.org/2001/XMLSchema" xmlns:p="http://schemas.microsoft.com/office/2006/metadata/properties" xmlns:ns2="151a6fa3-6b6f-407b-8d80-a98fbfd3ffc6" xmlns:ns3="9f0097a7-8621-4cd9-86c3-ef87ef700e15" targetNamespace="http://schemas.microsoft.com/office/2006/metadata/properties" ma:root="true" ma:fieldsID="43d62035d1ac8199747859d2a989128c" ns2:_="" ns3:_="">
    <xsd:import namespace="151a6fa3-6b6f-407b-8d80-a98fbfd3ffc6"/>
    <xsd:import namespace="9f0097a7-8621-4cd9-86c3-ef87ef700e15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1a6fa3-6b6f-407b-8d80-a98fbfd3ffc6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0097a7-8621-4cd9-86c3-ef87ef700e1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eab9b1a-4347-4ada-8038-318a505ec81a}" ma:internalName="TaxCatchAll" ma:showField="CatchAllData" ma:web="9f0097a7-8621-4cd9-86c3-ef87ef700e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151a6fa3-6b6f-407b-8d80-a98fbfd3ffc6" xsi:nil="true"/>
    <TaxCatchAll xmlns="9f0097a7-8621-4cd9-86c3-ef87ef700e15" xsi:nil="true"/>
    <lcf76f155ced4ddcb4097134ff3c332f xmlns="151a6fa3-6b6f-407b-8d80-a98fbfd3ffc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4AE7B11-A992-4725-BDD3-2B3C5ED8937F}"/>
</file>

<file path=customXml/itemProps2.xml><?xml version="1.0" encoding="utf-8"?>
<ds:datastoreItem xmlns:ds="http://schemas.openxmlformats.org/officeDocument/2006/customXml" ds:itemID="{304174E4-8A9C-4456-AD04-1B6CB404319E}"/>
</file>

<file path=customXml/itemProps3.xml><?xml version="1.0" encoding="utf-8"?>
<ds:datastoreItem xmlns:ds="http://schemas.openxmlformats.org/officeDocument/2006/customXml" ds:itemID="{CAC1B729-961F-4322-B063-54080E73F392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811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Bùi Quốc Trung</cp:lastModifiedBy>
  <cp:revision>1</cp:revision>
  <dcterms:created xsi:type="dcterms:W3CDTF">2013-01-27T09:14:16Z</dcterms:created>
  <dcterms:modified xsi:type="dcterms:W3CDTF">2026-10-22T03:46:04Z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0x010100AC8CABE7ED8B1E4C98CE33D0C080CEFB</vt:lpwstr>
  </property>
</Properties>
</file>